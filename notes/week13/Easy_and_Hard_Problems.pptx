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69" r:id="rId4"/>
    <p:sldId id="270" r:id="rId5"/>
    <p:sldId id="271" r:id="rId6"/>
    <p:sldId id="272" r:id="rId7"/>
    <p:sldId id="273" r:id="rId8"/>
    <p:sldId id="274" r:id="rId9"/>
    <p:sldId id="258" r:id="rId10"/>
    <p:sldId id="266" r:id="rId11"/>
    <p:sldId id="259" r:id="rId12"/>
    <p:sldId id="268" r:id="rId13"/>
    <p:sldId id="267" r:id="rId14"/>
    <p:sldId id="260" r:id="rId15"/>
    <p:sldId id="261" r:id="rId16"/>
    <p:sldId id="275" r:id="rId17"/>
    <p:sldId id="262" r:id="rId18"/>
    <p:sldId id="263" r:id="rId19"/>
    <p:sldId id="279" r:id="rId20"/>
    <p:sldId id="276" r:id="rId21"/>
    <p:sldId id="277" r:id="rId22"/>
    <p:sldId id="278" r:id="rId23"/>
    <p:sldId id="264" r:id="rId24"/>
    <p:sldId id="265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8"/>
    <p:restoredTop sz="96327"/>
  </p:normalViewPr>
  <p:slideViewPr>
    <p:cSldViewPr snapToGrid="0" snapToObjects="1">
      <p:cViewPr varScale="1">
        <p:scale>
          <a:sx n="171" d="100"/>
          <a:sy n="171" d="100"/>
        </p:scale>
        <p:origin x="5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custSel addSld modSld">
      <pc:chgData name="Toby Donaldson" userId="2e6e5431-bb17-4c41-9985-d39c50d83c73" providerId="ADAL" clId="{F31BC264-820E-54C4-A6D1-F92AF9CC222E}" dt="2026-03-30T23:41:27.414" v="7" actId="1076"/>
      <pc:docMkLst>
        <pc:docMk/>
      </pc:docMkLst>
      <pc:sldChg chg="addSp delSp modSp mod">
        <pc:chgData name="Toby Donaldson" userId="2e6e5431-bb17-4c41-9985-d39c50d83c73" providerId="ADAL" clId="{F31BC264-820E-54C4-A6D1-F92AF9CC222E}" dt="2026-03-30T23:41:27.414" v="7" actId="1076"/>
        <pc:sldMkLst>
          <pc:docMk/>
          <pc:sldMk cId="0" sldId="263"/>
        </pc:sldMkLst>
        <pc:spChg chg="del">
          <ac:chgData name="Toby Donaldson" userId="2e6e5431-bb17-4c41-9985-d39c50d83c73" providerId="ADAL" clId="{F31BC264-820E-54C4-A6D1-F92AF9CC222E}" dt="2026-03-30T23:41:13.346" v="2" actId="21"/>
          <ac:spMkLst>
            <pc:docMk/>
            <pc:sldMk cId="0" sldId="263"/>
            <ac:spMk id="5" creationId="{00000000-0000-0000-0000-000000000000}"/>
          </ac:spMkLst>
        </pc:spChg>
        <pc:spChg chg="del">
          <ac:chgData name="Toby Donaldson" userId="2e6e5431-bb17-4c41-9985-d39c50d83c73" providerId="ADAL" clId="{F31BC264-820E-54C4-A6D1-F92AF9CC222E}" dt="2026-03-30T23:41:08.897" v="1" actId="21"/>
          <ac:spMkLst>
            <pc:docMk/>
            <pc:sldMk cId="0" sldId="263"/>
            <ac:spMk id="6" creationId="{00000000-0000-0000-0000-000000000000}"/>
          </ac:spMkLst>
        </pc:spChg>
        <pc:spChg chg="del">
          <ac:chgData name="Toby Donaldson" userId="2e6e5431-bb17-4c41-9985-d39c50d83c73" providerId="ADAL" clId="{F31BC264-820E-54C4-A6D1-F92AF9CC222E}" dt="2026-03-30T23:41:08.897" v="1" actId="21"/>
          <ac:spMkLst>
            <pc:docMk/>
            <pc:sldMk cId="0" sldId="263"/>
            <ac:spMk id="7" creationId="{00000000-0000-0000-0000-000000000000}"/>
          </ac:spMkLst>
        </pc:spChg>
        <pc:spChg chg="del">
          <ac:chgData name="Toby Donaldson" userId="2e6e5431-bb17-4c41-9985-d39c50d83c73" providerId="ADAL" clId="{F31BC264-820E-54C4-A6D1-F92AF9CC222E}" dt="2026-03-30T23:41:08.897" v="1" actId="21"/>
          <ac:spMkLst>
            <pc:docMk/>
            <pc:sldMk cId="0" sldId="263"/>
            <ac:spMk id="8" creationId="{00000000-0000-0000-0000-000000000000}"/>
          </ac:spMkLst>
        </pc:spChg>
        <pc:spChg chg="del">
          <ac:chgData name="Toby Donaldson" userId="2e6e5431-bb17-4c41-9985-d39c50d83c73" providerId="ADAL" clId="{F31BC264-820E-54C4-A6D1-F92AF9CC222E}" dt="2026-03-30T23:41:08.897" v="1" actId="21"/>
          <ac:spMkLst>
            <pc:docMk/>
            <pc:sldMk cId="0" sldId="263"/>
            <ac:spMk id="9" creationId="{00000000-0000-0000-0000-000000000000}"/>
          </ac:spMkLst>
        </pc:spChg>
        <pc:picChg chg="add mod">
          <ac:chgData name="Toby Donaldson" userId="2e6e5431-bb17-4c41-9985-d39c50d83c73" providerId="ADAL" clId="{F31BC264-820E-54C4-A6D1-F92AF9CC222E}" dt="2026-03-30T23:41:27.414" v="7" actId="1076"/>
          <ac:picMkLst>
            <pc:docMk/>
            <pc:sldMk cId="0" sldId="263"/>
            <ac:picMk id="11" creationId="{72A7C797-9746-1073-046B-F02859C2D756}"/>
          </ac:picMkLst>
        </pc:picChg>
      </pc:sldChg>
      <pc:sldChg chg="add">
        <pc:chgData name="Toby Donaldson" userId="2e6e5431-bb17-4c41-9985-d39c50d83c73" providerId="ADAL" clId="{F31BC264-820E-54C4-A6D1-F92AF9CC222E}" dt="2026-03-30T23:40:59.364" v="0" actId="2890"/>
        <pc:sldMkLst>
          <pc:docMk/>
          <pc:sldMk cId="1515791411" sldId="2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8819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037BE-E8B6-AF38-C491-84B7A9047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2FD6CF-1D16-4987-C29F-5A3F8D22B4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C56BCF-E0FE-E45B-84C2-C6838219EE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2296F0-F21E-3A52-04F7-510B5689CE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447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64FE4-D5F1-1EBF-A001-169B09D1F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9C227F-2888-CB22-A131-D4E2DA3174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F3DEFD-D4E0-F27F-1BD4-4292166BF6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66139-30BF-1A62-B490-E8B38D09C1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017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A37DF-85AA-9193-2CBA-A2E10FEA9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B57ECA-B60E-CC26-2202-5A5CDC510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6F3054-8581-28CE-C067-4DB2D537A5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C1B64-4FD9-CC0D-4148-A835C0E19D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9813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76A0A-A31F-5D3B-3792-50B8902ED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B83527-4A89-3817-B0EA-8DEC92771A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BEA846-A8C8-19F8-503B-21A197AD11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FFA2F-0C36-6128-A4C9-9AB72306A6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308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7F462-7FA3-E5AC-16BC-E9BF8A61C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F7EA9E-4C1D-F997-F569-7EEF8DDE59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B576D0-5DB1-982D-36F9-9AF8289621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BB42C-7E74-2FE3-CEB8-04F23E0763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0536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6A2C2-473B-4EEA-9BBA-857BD2448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3D9273-C597-D459-586E-0A15930782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795267-12B8-74FB-ADC2-C9C0E20AA5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331C8-CDE0-E026-3CD9-3C6D2CAFB9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9193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7E4C9-8960-0025-8083-7364DD091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308A1B-1112-81E1-0567-C1E150F39C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153CD8-D7CB-2FB8-4AAC-15D9C9150F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D4C95-E244-B60F-1390-A2574D505E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9170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E0842-341C-34B0-D357-4DC3BED69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5AD2F2-A177-810C-EEE5-02A93B1022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3BF27C-7840-AB71-7BA1-96A11EF0B6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E3448-90CD-477D-0F8B-228D9262C9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5604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9EB91-AB5F-2972-5486-E0E6CBE9F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271EED-9C75-F587-687E-44791C422D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136B2C-DCCD-938E-4BAD-4B5AE6896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B5AE0-F0A3-7AE7-4B3A-78EEF94002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3432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4A233-A472-076B-C33D-B455F55E9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BE3BC3-1B14-39C2-C2A0-72B8CB01E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8BF380-F53C-115A-7F14-C2E4AA0C6A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8BD90-92DA-1EF6-DF88-C2EE559C04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4844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46E6A-81A4-F954-1ED7-F8142D97E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7859D6-684B-A4E7-D88F-A5A3965CE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20817D-35DF-26A2-03EE-FE54C568B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6C9E1-BCC0-F5B1-C72A-33DE49ADD1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6549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48C43-D524-997D-968B-2459FC667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FB4B40-F962-FD39-70A8-E99EE66E98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DE2B2E-D46D-62FB-6595-EE6B0E4F72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34D3B-4BAD-6EF3-4831-E6BD47E2FE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464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D0111-151A-5A68-A9FC-7D92A9A34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3E5ABE-0AAC-8D04-DD5B-087C66319F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F55969-B3CB-465A-D4F9-A6580A809E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CAD0D-D0F9-4BE7-96E5-42E8213BC7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6515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07735-31DE-537A-418F-0B4436B3E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7B3D29-009E-D4EA-1C14-B7EFCD86C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B4B337-D8A8-7B35-09DE-459AED9FA8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08D27-276C-1E3C-51AE-DCC968C028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9152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ath.uwaterloo.ca/tsp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oolean_satisfiability_problem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n.wikipedia.org/wiki/SAT_solver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oolean_satisfiability_problem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n.wikipedia.org/wiki/Partition_problem" TargetMode="External"/><Relationship Id="rId4" Type="http://schemas.openxmlformats.org/officeDocument/2006/relationships/hyperlink" Target="https://en.wikipedia.org/wiki/SAT_solver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ist_of_NP-complete_problems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Halting_problem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n.wikipedia.org/wiki/List_of_undecidable_problems" TargetMode="External"/><Relationship Id="rId4" Type="http://schemas.openxmlformats.org/officeDocument/2006/relationships/hyperlink" Target="https://www.youtube.com/watch?v=92WHN-pAFCs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lan_Turing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n.wikipedia.org/wiki/Turing_machine" TargetMode="Externa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92240" y="182880"/>
            <a:ext cx="2743200" cy="2743200"/>
          </a:xfrm>
          <a:prstGeom prst="ellipse">
            <a:avLst/>
          </a:prstGeom>
          <a:solidFill>
            <a:srgbClr val="00BCD4">
              <a:alpha val="12000"/>
            </a:srgbClr>
          </a:solidFill>
          <a:ln w="12700">
            <a:solidFill>
              <a:srgbClr val="00BCD4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223760" y="3017520"/>
            <a:ext cx="1828800" cy="1828800"/>
          </a:xfrm>
          <a:prstGeom prst="ellipse">
            <a:avLst/>
          </a:prstGeom>
          <a:solidFill>
            <a:srgbClr val="FF6B35">
              <a:alpha val="18000"/>
            </a:srgbClr>
          </a:solidFill>
          <a:ln w="12700">
            <a:solidFill>
              <a:srgbClr val="FF6B3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6858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 and Hard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Tour of Computational Complexity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polynomial-time algorithms to unsolvable problems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71016"/>
          </a:solidFill>
          <a:ln w="12700">
            <a:solidFill>
              <a:srgbClr val="0710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— Algorithms &amp; Complexity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Big-O Notation: Classifying Algorithm Performance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8503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complexity classes — from instant to impossibly slow: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845286"/>
              </p:ext>
            </p:extLst>
          </p:nvPr>
        </p:nvGraphicFramePr>
        <p:xfrm>
          <a:off x="274320" y="1225296"/>
          <a:ext cx="8595360" cy="358444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07D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lookup, hash 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162CF2-6D82-84AE-992C-6DDF3B20C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32BCAA9-82F0-14A6-7230-8D200C54A542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30E4BFD-187F-EB38-E2E5-07D7B1F02809}"/>
              </a:ext>
            </a:extLst>
          </p:cNvPr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Big-O Notation: Classifying Algorithm Performance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A4C29DD-5CEB-10EF-6E90-83ECA96E60F4}"/>
              </a:ext>
            </a:extLst>
          </p:cNvPr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71CDC6F-D2B6-C164-0E35-ACA80EB86B94}"/>
              </a:ext>
            </a:extLst>
          </p:cNvPr>
          <p:cNvSpPr/>
          <p:nvPr/>
        </p:nvSpPr>
        <p:spPr>
          <a:xfrm>
            <a:off x="320040" y="8503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complexity classes — from instant to impossibly slow:</a:t>
            </a:r>
            <a:endParaRPr lang="en-US" sz="1300" dirty="0"/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87A02E05-BDFA-C775-D8DD-E968782D41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719928"/>
              </p:ext>
            </p:extLst>
          </p:nvPr>
        </p:nvGraphicFramePr>
        <p:xfrm>
          <a:off x="274320" y="1225296"/>
          <a:ext cx="8595360" cy="358444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07D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lookup, hash 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Logarithmic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07D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Fast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3343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47D594-8ACC-D171-06ED-0DEE289C5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F5DD2E5-87A5-F973-A503-890823E5F1F8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A6AD2C3-2725-9211-D38F-F7FA09C7CFAC}"/>
              </a:ext>
            </a:extLst>
          </p:cNvPr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Big-O Notation: Classifying Algorithm Performance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A71FDE3-135A-45DC-A286-49B8955F4DB4}"/>
              </a:ext>
            </a:extLst>
          </p:cNvPr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E0D31D1-72AD-EF8D-2733-FC02A8892705}"/>
              </a:ext>
            </a:extLst>
          </p:cNvPr>
          <p:cNvSpPr/>
          <p:nvPr/>
        </p:nvSpPr>
        <p:spPr>
          <a:xfrm>
            <a:off x="320040" y="8503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complexity classes — from instant to impossibly slow:</a:t>
            </a:r>
            <a:endParaRPr lang="en-US" sz="1300" dirty="0"/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87E17761-376A-3C1A-C700-813EC1EEA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000180"/>
              </p:ext>
            </p:extLst>
          </p:nvPr>
        </p:nvGraphicFramePr>
        <p:xfrm>
          <a:off x="274320" y="1225296"/>
          <a:ext cx="8595360" cy="358444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07D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lookup, hash 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Logarithmic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07D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Fast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88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07D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search, array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88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8154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2E5C28-1C9B-BA00-97AF-819D0C7A3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EA39D30-E655-15BD-E59E-793B1C6756A4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08124D0-45FE-4165-2BB0-09ED7728F9D6}"/>
              </a:ext>
            </a:extLst>
          </p:cNvPr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Big-O Notation: Classifying Algorithm Performance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BB46813-F7C7-2B68-D64C-A6CF94FF5312}"/>
              </a:ext>
            </a:extLst>
          </p:cNvPr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4C5BD86-4723-21D2-8366-CF445031C73E}"/>
              </a:ext>
            </a:extLst>
          </p:cNvPr>
          <p:cNvSpPr/>
          <p:nvPr/>
        </p:nvSpPr>
        <p:spPr>
          <a:xfrm>
            <a:off x="320040" y="8503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complexity classes — from instant to impossibly slow:</a:t>
            </a:r>
            <a:endParaRPr lang="en-US" sz="1300" dirty="0"/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872A3413-155C-858B-FE31-D88163F112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767017"/>
              </p:ext>
            </p:extLst>
          </p:nvPr>
        </p:nvGraphicFramePr>
        <p:xfrm>
          <a:off x="274320" y="1225296"/>
          <a:ext cx="8595360" cy="358444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07D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lookup, hash 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Logarithmic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07D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Fast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88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07D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search, array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88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9A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Linearithmic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07D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sort, quicksort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9A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5229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1EC061-7234-3B06-FAE4-754B12CD3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C5A2D0C-123C-3F6B-59AF-0F90F7FC7F57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950BDCA-41E2-A4AA-8E5F-A4787E0CE4D8}"/>
              </a:ext>
            </a:extLst>
          </p:cNvPr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Big-O Notation: Classifying Algorithm Performance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E87FCD7-0580-21BE-0EED-7400FD0396CF}"/>
              </a:ext>
            </a:extLst>
          </p:cNvPr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A91894C-112A-25A6-F99F-5C7ABE279B4A}"/>
              </a:ext>
            </a:extLst>
          </p:cNvPr>
          <p:cNvSpPr/>
          <p:nvPr/>
        </p:nvSpPr>
        <p:spPr>
          <a:xfrm>
            <a:off x="320040" y="8503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complexity classes — from instant to impossibly slow:</a:t>
            </a:r>
            <a:endParaRPr lang="en-US" sz="1300" dirty="0"/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9447721E-1254-D1B3-2A97-75A31526C0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105185"/>
              </p:ext>
            </p:extLst>
          </p:nvPr>
        </p:nvGraphicFramePr>
        <p:xfrm>
          <a:off x="274320" y="1225296"/>
          <a:ext cx="8595360" cy="358444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07D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lookup, hash 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Logarithmic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07D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Fast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88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07D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search, array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88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9A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Linearithmic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07D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sort, quicksort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9A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Quadratic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07D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Insertion sort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9244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CFBC61-ED51-D570-F392-5C45615D2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F74603F-E426-B344-4D13-F949C1E364DA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5D7E3C1-0F16-1EAF-C4C5-A8DD5CE96715}"/>
              </a:ext>
            </a:extLst>
          </p:cNvPr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Big-O Notation: Classifying Algorithm Performance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896C766-CC63-0DBF-DB88-45F476010783}"/>
              </a:ext>
            </a:extLst>
          </p:cNvPr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076AC75-9B6E-8A76-E527-4D7D331495A5}"/>
              </a:ext>
            </a:extLst>
          </p:cNvPr>
          <p:cNvSpPr/>
          <p:nvPr/>
        </p:nvSpPr>
        <p:spPr>
          <a:xfrm>
            <a:off x="320040" y="8503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complexity classes — from instant to impossibly slow:</a:t>
            </a:r>
            <a:endParaRPr lang="en-US" sz="1300" dirty="0"/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FFB4101D-91B2-929D-265E-F4532A66B6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6132907"/>
              </p:ext>
            </p:extLst>
          </p:nvPr>
        </p:nvGraphicFramePr>
        <p:xfrm>
          <a:off x="274320" y="1225296"/>
          <a:ext cx="8595360" cy="358444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07D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lookup, hash 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Logarithmic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07D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Fast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88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07D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search, array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88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9A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Linearithmic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07D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sort, quicksort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9A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Quadratic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07D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Insertion sort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O(2ⁿ)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Exponential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07D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subsets of n items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5706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EDA7FA-A7BE-7EE7-9271-9C25AE548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9B67B40-C642-19D4-DBBA-0565471B6E38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70743AE-3AC7-8B08-B2F0-9A298FA8F2FB}"/>
              </a:ext>
            </a:extLst>
          </p:cNvPr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Big-O Notation: Classifying Algorithm Performance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09A0DD9-9102-30D5-B344-A25C9ECA2DD3}"/>
              </a:ext>
            </a:extLst>
          </p:cNvPr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8BEB86E-B406-2D8A-7533-E71E4FA73307}"/>
              </a:ext>
            </a:extLst>
          </p:cNvPr>
          <p:cNvSpPr/>
          <p:nvPr/>
        </p:nvSpPr>
        <p:spPr>
          <a:xfrm>
            <a:off x="320040" y="8503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complexity classes — from instant to impossibly slow:</a:t>
            </a:r>
            <a:endParaRPr lang="en-US" sz="1300" dirty="0"/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9C3E39D4-EF1D-BF56-2C08-8FDFF2198A08}"/>
              </a:ext>
            </a:extLst>
          </p:cNvPr>
          <p:cNvGraphicFramePr>
            <a:graphicFrameLocks noGrp="1"/>
          </p:cNvGraphicFramePr>
          <p:nvPr/>
        </p:nvGraphicFramePr>
        <p:xfrm>
          <a:off x="274320" y="1225296"/>
          <a:ext cx="8595360" cy="358444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07D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lookup, hash 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Logarithmic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07D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Fast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88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07D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search, array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88E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9A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Linearithmic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07D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sort, quicksort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9A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Quadratic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07D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Insertion sort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O(2ⁿ)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Exponential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07D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subsets of n items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O(n!)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07D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permutations of n items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Impossibly Slow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6534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 vs. Hard Problems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97764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8E6C9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3977640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2412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 Problems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Solvable in polynomial time — O(p(n))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847088"/>
            <a:ext cx="3703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algorithms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binary search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minimum of a list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multiplication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 (Dijkstra)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4206240"/>
            <a:ext cx="397764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423367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time grows polynomially with input size 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57716B-80B5-EFA3-C711-C826101D3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4775194-C3E4-46B9-C56F-7AC7C0241113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E34CBB6-C819-F9E8-054A-30DC76FC0203}"/>
              </a:ext>
            </a:extLst>
          </p:cNvPr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 vs. Hard Problems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681DCE0-BCDD-5D57-E98D-581D85993F3A}"/>
              </a:ext>
            </a:extLst>
          </p:cNvPr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CEF0252-E85D-4077-B354-F4FE85A62926}"/>
              </a:ext>
            </a:extLst>
          </p:cNvPr>
          <p:cNvSpPr/>
          <p:nvPr/>
        </p:nvSpPr>
        <p:spPr>
          <a:xfrm>
            <a:off x="274320" y="914400"/>
            <a:ext cx="397764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8E6C9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18EC677-667A-3DAB-0C6E-03B9B38FC82F}"/>
              </a:ext>
            </a:extLst>
          </p:cNvPr>
          <p:cNvSpPr/>
          <p:nvPr/>
        </p:nvSpPr>
        <p:spPr>
          <a:xfrm>
            <a:off x="274320" y="914400"/>
            <a:ext cx="3977640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C39B7CE-3437-F3B8-2410-090220CEC631}"/>
              </a:ext>
            </a:extLst>
          </p:cNvPr>
          <p:cNvSpPr/>
          <p:nvPr/>
        </p:nvSpPr>
        <p:spPr>
          <a:xfrm>
            <a:off x="411480" y="102412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 Problems</a:t>
            </a:r>
            <a:endParaRPr lang="en-US" sz="1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F814619-7C4F-5946-747E-7AB945519903}"/>
              </a:ext>
            </a:extLst>
          </p:cNvPr>
          <p:cNvSpPr/>
          <p:nvPr/>
        </p:nvSpPr>
        <p:spPr>
          <a:xfrm>
            <a:off x="411480" y="150876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Solvable in polynomial time — O(p(n))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C70294B-CA45-6F22-7960-EB20F25F647F}"/>
              </a:ext>
            </a:extLst>
          </p:cNvPr>
          <p:cNvSpPr/>
          <p:nvPr/>
        </p:nvSpPr>
        <p:spPr>
          <a:xfrm>
            <a:off x="411480" y="1847088"/>
            <a:ext cx="3703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algorithms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binary search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minimum of a list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multiplication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 (Dijkstra)</a:t>
            </a:r>
            <a:endParaRPr lang="en-US" sz="13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7E5B62C-F4FB-FE9F-D831-21C04CB6E094}"/>
              </a:ext>
            </a:extLst>
          </p:cNvPr>
          <p:cNvSpPr/>
          <p:nvPr/>
        </p:nvSpPr>
        <p:spPr>
          <a:xfrm>
            <a:off x="274320" y="4206240"/>
            <a:ext cx="397764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A80286C-AAC3-DF7D-3F80-17F4DC95E952}"/>
              </a:ext>
            </a:extLst>
          </p:cNvPr>
          <p:cNvSpPr/>
          <p:nvPr/>
        </p:nvSpPr>
        <p:spPr>
          <a:xfrm>
            <a:off x="411480" y="423367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time grows polynomially with input size n</a:t>
            </a:r>
            <a:endParaRPr lang="en-US" sz="11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D41A737-5015-3B5E-4AC2-846FD3B70139}"/>
              </a:ext>
            </a:extLst>
          </p:cNvPr>
          <p:cNvSpPr/>
          <p:nvPr/>
        </p:nvSpPr>
        <p:spPr>
          <a:xfrm>
            <a:off x="4617720" y="914400"/>
            <a:ext cx="425196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DD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687FEC3-F5AC-43E6-0623-EAC14079C015}"/>
              </a:ext>
            </a:extLst>
          </p:cNvPr>
          <p:cNvSpPr/>
          <p:nvPr/>
        </p:nvSpPr>
        <p:spPr>
          <a:xfrm>
            <a:off x="4617720" y="914400"/>
            <a:ext cx="4251960" cy="914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FDB24D7-3AD3-A1CA-1861-C839B7DB17BF}"/>
              </a:ext>
            </a:extLst>
          </p:cNvPr>
          <p:cNvSpPr/>
          <p:nvPr/>
        </p:nvSpPr>
        <p:spPr>
          <a:xfrm>
            <a:off x="4754880" y="102412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 Problems</a:t>
            </a:r>
            <a:endParaRPr lang="en-US" sz="18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9208C1D-E6F6-CE7A-82A6-9FEB0F5D957A}"/>
              </a:ext>
            </a:extLst>
          </p:cNvPr>
          <p:cNvSpPr/>
          <p:nvPr/>
        </p:nvSpPr>
        <p:spPr>
          <a:xfrm>
            <a:off x="4754880" y="150876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known algorithms require exponential or factorial time</a:t>
            </a:r>
            <a:endParaRPr lang="en-US" sz="11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C9552CB-02CC-4738-2DB7-F529B4A5CDDF}"/>
              </a:ext>
            </a:extLst>
          </p:cNvPr>
          <p:cNvSpPr/>
          <p:nvPr/>
        </p:nvSpPr>
        <p:spPr>
          <a:xfrm>
            <a:off x="4754880" y="1847088"/>
            <a:ext cx="3977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Traveling Salesman Problem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Satisfiability (SAT)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Partition Problem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all permutations: O(n!)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all bit-strings: O(2ⁿ)</a:t>
            </a:r>
            <a:endParaRPr lang="en-US" sz="13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FBDA2FF-504E-CB0A-26F9-C45C2FEE8C8B}"/>
              </a:ext>
            </a:extLst>
          </p:cNvPr>
          <p:cNvSpPr/>
          <p:nvPr/>
        </p:nvSpPr>
        <p:spPr>
          <a:xfrm>
            <a:off x="4617720" y="4206240"/>
            <a:ext cx="4251960" cy="548640"/>
          </a:xfrm>
          <a:prstGeom prst="rect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491BE58-BA2E-5A42-E03E-B85A138BED88}"/>
              </a:ext>
            </a:extLst>
          </p:cNvPr>
          <p:cNvSpPr/>
          <p:nvPr/>
        </p:nvSpPr>
        <p:spPr>
          <a:xfrm>
            <a:off x="4754880" y="423367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important problems — still unknown if all are truly hard!</a:t>
            </a:r>
            <a:endParaRPr lang="en-US" sz="11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8E34B6D-7028-C1DA-2C9F-D15392AE0CA8}"/>
              </a:ext>
            </a:extLst>
          </p:cNvPr>
          <p:cNvSpPr/>
          <p:nvPr/>
        </p:nvSpPr>
        <p:spPr>
          <a:xfrm>
            <a:off x="4233672" y="256032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07D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11830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12">
            <a:extLst>
              <a:ext uri="{FF2B5EF4-FFF2-40B4-BE49-F238E27FC236}">
                <a16:creationId xmlns:a16="http://schemas.microsoft.com/office/drawing/2014/main" id="{7D6AA107-05B5-DB87-B0ED-074A0FF8FB88}"/>
              </a:ext>
            </a:extLst>
          </p:cNvPr>
          <p:cNvSpPr/>
          <p:nvPr/>
        </p:nvSpPr>
        <p:spPr>
          <a:xfrm flipV="1">
            <a:off x="6429719" y="1499615"/>
            <a:ext cx="371930" cy="3072383"/>
          </a:xfrm>
          <a:prstGeom prst="line">
            <a:avLst/>
          </a:prstGeom>
          <a:noFill/>
          <a:ln w="22860">
            <a:solidFill>
              <a:srgbClr val="00BCD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12">
            <a:extLst>
              <a:ext uri="{FF2B5EF4-FFF2-40B4-BE49-F238E27FC236}">
                <a16:creationId xmlns:a16="http://schemas.microsoft.com/office/drawing/2014/main" id="{400BC366-FB57-EA79-2834-67CEFB00C828}"/>
              </a:ext>
            </a:extLst>
          </p:cNvPr>
          <p:cNvSpPr/>
          <p:nvPr/>
        </p:nvSpPr>
        <p:spPr>
          <a:xfrm flipH="1" flipV="1">
            <a:off x="5767782" y="3127248"/>
            <a:ext cx="670189" cy="1444752"/>
          </a:xfrm>
          <a:prstGeom prst="line">
            <a:avLst/>
          </a:prstGeom>
          <a:noFill/>
          <a:ln w="22860">
            <a:solidFill>
              <a:srgbClr val="00BCD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4085F845-7F62-E0AC-E1A3-BF9DCFF5EEA5}"/>
              </a:ext>
            </a:extLst>
          </p:cNvPr>
          <p:cNvSpPr/>
          <p:nvPr/>
        </p:nvSpPr>
        <p:spPr>
          <a:xfrm flipH="1" flipV="1">
            <a:off x="5767782" y="3127248"/>
            <a:ext cx="2134716" cy="1207008"/>
          </a:xfrm>
          <a:prstGeom prst="line">
            <a:avLst/>
          </a:prstGeom>
          <a:noFill/>
          <a:ln w="22860">
            <a:solidFill>
              <a:srgbClr val="00BCD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Traveling Salesman Problem (TSP)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20040" y="134416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list of cities and the distances between them, what is the shortest tour that visits every city exactly once — starting and ending at the same city?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03136" y="1499616"/>
            <a:ext cx="1920240" cy="1563622"/>
          </a:xfrm>
          <a:prstGeom prst="line">
            <a:avLst/>
          </a:prstGeom>
          <a:noFill/>
          <a:ln w="22860">
            <a:solidFill>
              <a:srgbClr val="00BCD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66176" y="1865376"/>
            <a:ext cx="457200" cy="1188720"/>
          </a:xfrm>
          <a:prstGeom prst="line">
            <a:avLst/>
          </a:prstGeom>
          <a:noFill/>
          <a:ln w="22860">
            <a:solidFill>
              <a:srgbClr val="00BCD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 flipH="1">
            <a:off x="7902497" y="1865376"/>
            <a:ext cx="345390" cy="2468880"/>
          </a:xfrm>
          <a:prstGeom prst="line">
            <a:avLst/>
          </a:prstGeom>
          <a:noFill/>
          <a:ln w="22860">
            <a:solidFill>
              <a:srgbClr val="00BCD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37376" y="4562856"/>
            <a:ext cx="0" cy="0"/>
          </a:xfrm>
          <a:prstGeom prst="line">
            <a:avLst/>
          </a:prstGeom>
          <a:noFill/>
          <a:ln w="22860">
            <a:solidFill>
              <a:srgbClr val="00BCD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675120" y="1371600"/>
            <a:ext cx="256032" cy="256032"/>
          </a:xfrm>
          <a:prstGeom prst="ellipse">
            <a:avLst/>
          </a:prstGeom>
          <a:solidFill>
            <a:srgbClr val="0D1B2A"/>
          </a:solidFill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73049" y="1161285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8160" y="1737360"/>
            <a:ext cx="256032" cy="256032"/>
          </a:xfrm>
          <a:prstGeom prst="ellipse">
            <a:avLst/>
          </a:prstGeom>
          <a:solidFill>
            <a:srgbClr val="0D1B2A"/>
          </a:solidFill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028432" y="15179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95360" y="2926080"/>
            <a:ext cx="256032" cy="256032"/>
          </a:xfrm>
          <a:prstGeom prst="ellipse">
            <a:avLst/>
          </a:prstGeom>
          <a:solidFill>
            <a:srgbClr val="0D1B2A"/>
          </a:solidFill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503920" y="32004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C₃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0" y="4206240"/>
            <a:ext cx="256032" cy="256032"/>
          </a:xfrm>
          <a:prstGeom prst="ellipse">
            <a:avLst/>
          </a:prstGeom>
          <a:solidFill>
            <a:srgbClr val="0D1B2A"/>
          </a:solidFill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680217" y="445312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C₄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4434840"/>
            <a:ext cx="256032" cy="256032"/>
          </a:xfrm>
          <a:prstGeom prst="ellipse">
            <a:avLst/>
          </a:prstGeom>
          <a:solidFill>
            <a:srgbClr val="0D1B2A"/>
          </a:solidFill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17920" y="47091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C₅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0" y="3017520"/>
            <a:ext cx="256032" cy="256032"/>
          </a:xfrm>
          <a:prstGeom prst="ellipse">
            <a:avLst/>
          </a:prstGeom>
          <a:solidFill>
            <a:srgbClr val="0D1B2A"/>
          </a:solidFill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566912" y="2807207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C₆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0" y="47731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6-city tour</a:t>
            </a:r>
            <a:br>
              <a:rPr lang="en-US" sz="10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6! = 720 tours</a:t>
            </a:r>
            <a:endParaRPr lang="en-US" sz="1000" dirty="0"/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EF025659-68B8-A897-3600-F04F10025546}"/>
              </a:ext>
            </a:extLst>
          </p:cNvPr>
          <p:cNvSpPr/>
          <p:nvPr/>
        </p:nvSpPr>
        <p:spPr>
          <a:xfrm>
            <a:off x="5357640" y="2135675"/>
            <a:ext cx="10980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C₁ C</a:t>
            </a:r>
            <a:r>
              <a:rPr lang="en-US" sz="1100" b="1" baseline="-25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</a:t>
            </a:r>
            <a:r>
              <a:rPr lang="en-US" sz="1100" b="1" baseline="-25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</a:t>
            </a:r>
            <a:r>
              <a:rPr lang="en-US" sz="1100" b="1" baseline="-25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</a:t>
            </a:r>
            <a:r>
              <a:rPr lang="en-US" sz="1100" b="1" baseline="-25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</a:t>
            </a:r>
            <a:r>
              <a:rPr lang="en-US" sz="1100" b="1" baseline="-25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baseline="-25000" dirty="0"/>
          </a:p>
        </p:txBody>
      </p:sp>
      <p:sp>
        <p:nvSpPr>
          <p:cNvPr id="35" name="Text 17">
            <a:extLst>
              <a:ext uri="{FF2B5EF4-FFF2-40B4-BE49-F238E27FC236}">
                <a16:creationId xmlns:a16="http://schemas.microsoft.com/office/drawing/2014/main" id="{D3E9CF9E-3827-F7F6-569C-55146A7748F6}"/>
              </a:ext>
            </a:extLst>
          </p:cNvPr>
          <p:cNvSpPr/>
          <p:nvPr/>
        </p:nvSpPr>
        <p:spPr>
          <a:xfrm>
            <a:off x="6217919" y="1286902"/>
            <a:ext cx="4572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baseline="-25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7AD98C-36EE-C072-A053-911B96208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12">
            <a:extLst>
              <a:ext uri="{FF2B5EF4-FFF2-40B4-BE49-F238E27FC236}">
                <a16:creationId xmlns:a16="http://schemas.microsoft.com/office/drawing/2014/main" id="{36F5E457-1592-9044-DE4B-90F833D802B4}"/>
              </a:ext>
            </a:extLst>
          </p:cNvPr>
          <p:cNvSpPr/>
          <p:nvPr/>
        </p:nvSpPr>
        <p:spPr>
          <a:xfrm flipV="1">
            <a:off x="6429719" y="1499615"/>
            <a:ext cx="371930" cy="3072383"/>
          </a:xfrm>
          <a:prstGeom prst="line">
            <a:avLst/>
          </a:prstGeom>
          <a:noFill/>
          <a:ln w="22860">
            <a:solidFill>
              <a:srgbClr val="00BCD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12">
            <a:extLst>
              <a:ext uri="{FF2B5EF4-FFF2-40B4-BE49-F238E27FC236}">
                <a16:creationId xmlns:a16="http://schemas.microsoft.com/office/drawing/2014/main" id="{221D6A40-72B9-321B-E8D0-F9D4EEE21E75}"/>
              </a:ext>
            </a:extLst>
          </p:cNvPr>
          <p:cNvSpPr/>
          <p:nvPr/>
        </p:nvSpPr>
        <p:spPr>
          <a:xfrm flipH="1" flipV="1">
            <a:off x="5767782" y="3127248"/>
            <a:ext cx="670189" cy="1444752"/>
          </a:xfrm>
          <a:prstGeom prst="line">
            <a:avLst/>
          </a:prstGeom>
          <a:noFill/>
          <a:ln w="22860">
            <a:solidFill>
              <a:srgbClr val="00BCD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20B461F6-FCB6-92DB-0DD3-C29D5D797C3F}"/>
              </a:ext>
            </a:extLst>
          </p:cNvPr>
          <p:cNvSpPr/>
          <p:nvPr/>
        </p:nvSpPr>
        <p:spPr>
          <a:xfrm flipH="1" flipV="1">
            <a:off x="5767782" y="3127248"/>
            <a:ext cx="2134716" cy="1207008"/>
          </a:xfrm>
          <a:prstGeom prst="line">
            <a:avLst/>
          </a:prstGeom>
          <a:noFill/>
          <a:ln w="22860">
            <a:solidFill>
              <a:srgbClr val="00BCD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5DDFB3BF-C671-2A95-D02E-227D340F45BC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7518631-C5A2-2CAE-066D-577CD6D6EA69}"/>
              </a:ext>
            </a:extLst>
          </p:cNvPr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Traveling Salesman Problem (TSP)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722E474-0B58-D12F-D052-334E9C6CB4BC}"/>
              </a:ext>
            </a:extLst>
          </p:cNvPr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F5A5C47-FFC8-6037-F181-5A262A82949B}"/>
              </a:ext>
            </a:extLst>
          </p:cNvPr>
          <p:cNvSpPr/>
          <p:nvPr/>
        </p:nvSpPr>
        <p:spPr>
          <a:xfrm>
            <a:off x="320040" y="93268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5450DFE-9C88-ECAF-5E22-91E253EA546E}"/>
              </a:ext>
            </a:extLst>
          </p:cNvPr>
          <p:cNvSpPr/>
          <p:nvPr/>
        </p:nvSpPr>
        <p:spPr>
          <a:xfrm>
            <a:off x="320040" y="134416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list of cities and the distances between them, what is the shortest tour that visits every city exactly once — starting and ending at the same city?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9761613-0B41-7191-F431-9391214BA904}"/>
              </a:ext>
            </a:extLst>
          </p:cNvPr>
          <p:cNvSpPr/>
          <p:nvPr/>
        </p:nvSpPr>
        <p:spPr>
          <a:xfrm>
            <a:off x="320040" y="23042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Is It Hard?</a:t>
            </a: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B2D09EF-BD65-A100-C0CD-7F99F18A1DA9}"/>
              </a:ext>
            </a:extLst>
          </p:cNvPr>
          <p:cNvSpPr/>
          <p:nvPr/>
        </p:nvSpPr>
        <p:spPr>
          <a:xfrm>
            <a:off x="320040" y="26974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O(n!) possible tours to check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cities → 25! ≈ 15 septillion tours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 billion checks/sec: millions of years</a:t>
            </a:r>
            <a:endParaRPr lang="en-US" sz="13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42B32A1-EF3B-A2DB-9995-D3ABE301974D}"/>
              </a:ext>
            </a:extLst>
          </p:cNvPr>
          <p:cNvSpPr/>
          <p:nvPr/>
        </p:nvSpPr>
        <p:spPr>
          <a:xfrm>
            <a:off x="6803136" y="1499616"/>
            <a:ext cx="1920240" cy="1563622"/>
          </a:xfrm>
          <a:prstGeom prst="line">
            <a:avLst/>
          </a:prstGeom>
          <a:noFill/>
          <a:ln w="22860">
            <a:solidFill>
              <a:srgbClr val="00BCD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497DB19-18E8-B4F1-12D6-743444FF1001}"/>
              </a:ext>
            </a:extLst>
          </p:cNvPr>
          <p:cNvSpPr/>
          <p:nvPr/>
        </p:nvSpPr>
        <p:spPr>
          <a:xfrm>
            <a:off x="8266176" y="1865376"/>
            <a:ext cx="457200" cy="1188720"/>
          </a:xfrm>
          <a:prstGeom prst="line">
            <a:avLst/>
          </a:prstGeom>
          <a:noFill/>
          <a:ln w="22860">
            <a:solidFill>
              <a:srgbClr val="00BCD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0EB5093-CE50-76B6-2F2D-956ECB1AB0B7}"/>
              </a:ext>
            </a:extLst>
          </p:cNvPr>
          <p:cNvSpPr/>
          <p:nvPr/>
        </p:nvSpPr>
        <p:spPr>
          <a:xfrm flipH="1">
            <a:off x="7902497" y="1865376"/>
            <a:ext cx="345390" cy="2468880"/>
          </a:xfrm>
          <a:prstGeom prst="line">
            <a:avLst/>
          </a:prstGeom>
          <a:noFill/>
          <a:ln w="22860">
            <a:solidFill>
              <a:srgbClr val="00BCD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B196BC7-8A3B-FC30-88D2-385D17B20637}"/>
              </a:ext>
            </a:extLst>
          </p:cNvPr>
          <p:cNvSpPr/>
          <p:nvPr/>
        </p:nvSpPr>
        <p:spPr>
          <a:xfrm>
            <a:off x="6437376" y="4562856"/>
            <a:ext cx="0" cy="0"/>
          </a:xfrm>
          <a:prstGeom prst="line">
            <a:avLst/>
          </a:prstGeom>
          <a:noFill/>
          <a:ln w="22860">
            <a:solidFill>
              <a:srgbClr val="00BCD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66FE3B5-57D4-0F2B-6216-A02F87A3F914}"/>
              </a:ext>
            </a:extLst>
          </p:cNvPr>
          <p:cNvSpPr/>
          <p:nvPr/>
        </p:nvSpPr>
        <p:spPr>
          <a:xfrm>
            <a:off x="6675120" y="1371600"/>
            <a:ext cx="256032" cy="256032"/>
          </a:xfrm>
          <a:prstGeom prst="ellipse">
            <a:avLst/>
          </a:prstGeom>
          <a:solidFill>
            <a:srgbClr val="0D1B2A"/>
          </a:solidFill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B385588-2F3F-C88E-E926-593CE60425CD}"/>
              </a:ext>
            </a:extLst>
          </p:cNvPr>
          <p:cNvSpPr/>
          <p:nvPr/>
        </p:nvSpPr>
        <p:spPr>
          <a:xfrm>
            <a:off x="6573049" y="1161285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C₁</a:t>
            </a:r>
            <a:endParaRPr lang="en-US" sz="11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E1CA487-6B3F-3D7C-C024-9FE2E6967D1B}"/>
              </a:ext>
            </a:extLst>
          </p:cNvPr>
          <p:cNvSpPr/>
          <p:nvPr/>
        </p:nvSpPr>
        <p:spPr>
          <a:xfrm>
            <a:off x="8138160" y="1737360"/>
            <a:ext cx="256032" cy="256032"/>
          </a:xfrm>
          <a:prstGeom prst="ellipse">
            <a:avLst/>
          </a:prstGeom>
          <a:solidFill>
            <a:srgbClr val="0D1B2A"/>
          </a:solidFill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43CB081-7499-D3B1-2A70-358ADA959A4D}"/>
              </a:ext>
            </a:extLst>
          </p:cNvPr>
          <p:cNvSpPr/>
          <p:nvPr/>
        </p:nvSpPr>
        <p:spPr>
          <a:xfrm>
            <a:off x="8028432" y="15179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C₂</a:t>
            </a:r>
            <a:endParaRPr lang="en-US" sz="11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4EBEFED-4530-4A03-6B40-FA82488827BF}"/>
              </a:ext>
            </a:extLst>
          </p:cNvPr>
          <p:cNvSpPr/>
          <p:nvPr/>
        </p:nvSpPr>
        <p:spPr>
          <a:xfrm>
            <a:off x="8595360" y="2926080"/>
            <a:ext cx="256032" cy="256032"/>
          </a:xfrm>
          <a:prstGeom prst="ellipse">
            <a:avLst/>
          </a:prstGeom>
          <a:solidFill>
            <a:srgbClr val="0D1B2A"/>
          </a:solidFill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15F776D-D5AF-E6C9-363A-63EAEE3E8EDC}"/>
              </a:ext>
            </a:extLst>
          </p:cNvPr>
          <p:cNvSpPr/>
          <p:nvPr/>
        </p:nvSpPr>
        <p:spPr>
          <a:xfrm>
            <a:off x="8503920" y="32004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C₃</a:t>
            </a:r>
            <a:endParaRPr lang="en-US" sz="11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F88428F-4FBD-3FAA-C92D-F78F5B9E82C1}"/>
              </a:ext>
            </a:extLst>
          </p:cNvPr>
          <p:cNvSpPr/>
          <p:nvPr/>
        </p:nvSpPr>
        <p:spPr>
          <a:xfrm>
            <a:off x="7772400" y="4206240"/>
            <a:ext cx="256032" cy="256032"/>
          </a:xfrm>
          <a:prstGeom prst="ellipse">
            <a:avLst/>
          </a:prstGeom>
          <a:solidFill>
            <a:srgbClr val="0D1B2A"/>
          </a:solidFill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174FCA9-A872-C2AB-93F4-3A5C1F4AC33F}"/>
              </a:ext>
            </a:extLst>
          </p:cNvPr>
          <p:cNvSpPr/>
          <p:nvPr/>
        </p:nvSpPr>
        <p:spPr>
          <a:xfrm>
            <a:off x="7680217" y="445312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C₄</a:t>
            </a:r>
            <a:endParaRPr lang="en-US" sz="11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C0D04877-5034-90CF-3B6A-C5646B77043A}"/>
              </a:ext>
            </a:extLst>
          </p:cNvPr>
          <p:cNvSpPr/>
          <p:nvPr/>
        </p:nvSpPr>
        <p:spPr>
          <a:xfrm>
            <a:off x="6309360" y="4434840"/>
            <a:ext cx="256032" cy="256032"/>
          </a:xfrm>
          <a:prstGeom prst="ellipse">
            <a:avLst/>
          </a:prstGeom>
          <a:solidFill>
            <a:srgbClr val="0D1B2A"/>
          </a:solidFill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794D3EB-AF32-940D-10E7-73503477CEEB}"/>
              </a:ext>
            </a:extLst>
          </p:cNvPr>
          <p:cNvSpPr/>
          <p:nvPr/>
        </p:nvSpPr>
        <p:spPr>
          <a:xfrm>
            <a:off x="6217920" y="47091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C₅</a:t>
            </a:r>
            <a:endParaRPr lang="en-US" sz="11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94362887-8A05-C75A-CA07-4EB2BC14DCBC}"/>
              </a:ext>
            </a:extLst>
          </p:cNvPr>
          <p:cNvSpPr/>
          <p:nvPr/>
        </p:nvSpPr>
        <p:spPr>
          <a:xfrm>
            <a:off x="5669280" y="3017520"/>
            <a:ext cx="256032" cy="256032"/>
          </a:xfrm>
          <a:prstGeom prst="ellipse">
            <a:avLst/>
          </a:prstGeom>
          <a:solidFill>
            <a:srgbClr val="0D1B2A"/>
          </a:solidFill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FB0869A0-1BD2-D9DD-28AD-8E522560F336}"/>
              </a:ext>
            </a:extLst>
          </p:cNvPr>
          <p:cNvSpPr/>
          <p:nvPr/>
        </p:nvSpPr>
        <p:spPr>
          <a:xfrm>
            <a:off x="5566912" y="2807207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C₆</a:t>
            </a:r>
            <a:endParaRPr lang="en-US" sz="11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26D0EB9-9226-12D4-C36D-D8AADCEAB5FA}"/>
              </a:ext>
            </a:extLst>
          </p:cNvPr>
          <p:cNvSpPr/>
          <p:nvPr/>
        </p:nvSpPr>
        <p:spPr>
          <a:xfrm>
            <a:off x="5486400" y="47731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6-city tour</a:t>
            </a:r>
            <a:br>
              <a:rPr lang="en-US" sz="10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6! = 720 tours</a:t>
            </a:r>
            <a:endParaRPr lang="en-US" sz="1000" dirty="0"/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267832C1-C204-F8D6-4350-34E7E2DEDA7B}"/>
              </a:ext>
            </a:extLst>
          </p:cNvPr>
          <p:cNvSpPr/>
          <p:nvPr/>
        </p:nvSpPr>
        <p:spPr>
          <a:xfrm>
            <a:off x="5357640" y="2135675"/>
            <a:ext cx="10980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C₁ C</a:t>
            </a:r>
            <a:r>
              <a:rPr lang="en-US" sz="1100" b="1" baseline="-25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</a:t>
            </a:r>
            <a:r>
              <a:rPr lang="en-US" sz="1100" b="1" baseline="-25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</a:t>
            </a:r>
            <a:r>
              <a:rPr lang="en-US" sz="1100" b="1" baseline="-25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</a:t>
            </a:r>
            <a:r>
              <a:rPr lang="en-US" sz="1100" b="1" baseline="-25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</a:t>
            </a:r>
            <a:r>
              <a:rPr lang="en-US" sz="1100" b="1" baseline="-25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baseline="-25000" dirty="0"/>
          </a:p>
        </p:txBody>
      </p:sp>
      <p:sp>
        <p:nvSpPr>
          <p:cNvPr id="35" name="Text 17">
            <a:extLst>
              <a:ext uri="{FF2B5EF4-FFF2-40B4-BE49-F238E27FC236}">
                <a16:creationId xmlns:a16="http://schemas.microsoft.com/office/drawing/2014/main" id="{E9ED74B7-DCE2-2087-7CA9-3ABE90CF529F}"/>
              </a:ext>
            </a:extLst>
          </p:cNvPr>
          <p:cNvSpPr/>
          <p:nvPr/>
        </p:nvSpPr>
        <p:spPr>
          <a:xfrm>
            <a:off x="6217919" y="1286902"/>
            <a:ext cx="4572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baseline="-25000" dirty="0"/>
          </a:p>
        </p:txBody>
      </p:sp>
    </p:spTree>
    <p:extLst>
      <p:ext uri="{BB962C8B-B14F-4D97-AF65-F5344CB8AC3E}">
        <p14:creationId xmlns:p14="http://schemas.microsoft.com/office/powerpoint/2010/main" val="2690147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0EBC2C-8B32-40B3-4345-D21773344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12">
            <a:extLst>
              <a:ext uri="{FF2B5EF4-FFF2-40B4-BE49-F238E27FC236}">
                <a16:creationId xmlns:a16="http://schemas.microsoft.com/office/drawing/2014/main" id="{2F09BEBD-3F4C-66B2-2DF5-772ABA63C4B0}"/>
              </a:ext>
            </a:extLst>
          </p:cNvPr>
          <p:cNvSpPr/>
          <p:nvPr/>
        </p:nvSpPr>
        <p:spPr>
          <a:xfrm flipV="1">
            <a:off x="6429719" y="1499615"/>
            <a:ext cx="371930" cy="3072383"/>
          </a:xfrm>
          <a:prstGeom prst="line">
            <a:avLst/>
          </a:prstGeom>
          <a:noFill/>
          <a:ln w="22860">
            <a:solidFill>
              <a:srgbClr val="00BCD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12">
            <a:extLst>
              <a:ext uri="{FF2B5EF4-FFF2-40B4-BE49-F238E27FC236}">
                <a16:creationId xmlns:a16="http://schemas.microsoft.com/office/drawing/2014/main" id="{FD0D0AA2-ADEF-ABFA-6A9D-944E4F7BF4F9}"/>
              </a:ext>
            </a:extLst>
          </p:cNvPr>
          <p:cNvSpPr/>
          <p:nvPr/>
        </p:nvSpPr>
        <p:spPr>
          <a:xfrm flipH="1" flipV="1">
            <a:off x="5767782" y="3127248"/>
            <a:ext cx="670189" cy="1444752"/>
          </a:xfrm>
          <a:prstGeom prst="line">
            <a:avLst/>
          </a:prstGeom>
          <a:noFill/>
          <a:ln w="22860">
            <a:solidFill>
              <a:srgbClr val="00BCD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DF708440-5BBD-1543-E23A-5259B4B1FB57}"/>
              </a:ext>
            </a:extLst>
          </p:cNvPr>
          <p:cNvSpPr/>
          <p:nvPr/>
        </p:nvSpPr>
        <p:spPr>
          <a:xfrm flipH="1" flipV="1">
            <a:off x="5767782" y="3127248"/>
            <a:ext cx="2134716" cy="1207008"/>
          </a:xfrm>
          <a:prstGeom prst="line">
            <a:avLst/>
          </a:prstGeom>
          <a:noFill/>
          <a:ln w="22860">
            <a:solidFill>
              <a:srgbClr val="00BCD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52A8AEED-7AF6-F6E6-362D-BA9ACF34CE57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4BE95E-A9FD-5C5B-2BE1-59EEE59EAEF8}"/>
              </a:ext>
            </a:extLst>
          </p:cNvPr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Traveling Salesman Problem (TSP)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70C0D96-6FB2-06DB-9B09-66A95D7286BA}"/>
              </a:ext>
            </a:extLst>
          </p:cNvPr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8A56826-3684-ACFB-6086-ACEFCB72B4C7}"/>
              </a:ext>
            </a:extLst>
          </p:cNvPr>
          <p:cNvSpPr/>
          <p:nvPr/>
        </p:nvSpPr>
        <p:spPr>
          <a:xfrm>
            <a:off x="320040" y="93268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7F70DFA-2D1B-5D0D-880E-4AC27D8790D2}"/>
              </a:ext>
            </a:extLst>
          </p:cNvPr>
          <p:cNvSpPr/>
          <p:nvPr/>
        </p:nvSpPr>
        <p:spPr>
          <a:xfrm>
            <a:off x="320040" y="134416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list of cities and the distances between them, what is the shortest tour that visits every city exactly once — starting and ending at the same city?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FB8D1C-839A-29F5-46F0-1D8154C32658}"/>
              </a:ext>
            </a:extLst>
          </p:cNvPr>
          <p:cNvSpPr/>
          <p:nvPr/>
        </p:nvSpPr>
        <p:spPr>
          <a:xfrm>
            <a:off x="320040" y="23042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Is It Hard?</a:t>
            </a: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763E258-650F-59FE-70AF-CF482C5C28AC}"/>
              </a:ext>
            </a:extLst>
          </p:cNvPr>
          <p:cNvSpPr/>
          <p:nvPr/>
        </p:nvSpPr>
        <p:spPr>
          <a:xfrm>
            <a:off x="320040" y="26974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O(n!) possible tours to check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cities → 25! ≈ 15 septillion tours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 billion checks/sec: millions of years</a:t>
            </a:r>
            <a:endParaRPr lang="en-US" sz="13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8D95A97-728D-3814-956F-4F12CABAFBD0}"/>
              </a:ext>
            </a:extLst>
          </p:cNvPr>
          <p:cNvSpPr/>
          <p:nvPr/>
        </p:nvSpPr>
        <p:spPr>
          <a:xfrm>
            <a:off x="320040" y="3749040"/>
            <a:ext cx="4754880" cy="749808"/>
          </a:xfrm>
          <a:prstGeom prst="rect">
            <a:avLst/>
          </a:prstGeom>
          <a:solidFill>
            <a:srgbClr val="FEF0C7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353776F-1CCF-E5F1-B141-9E03916BB494}"/>
              </a:ext>
            </a:extLst>
          </p:cNvPr>
          <p:cNvSpPr/>
          <p:nvPr/>
        </p:nvSpPr>
        <p:spPr>
          <a:xfrm>
            <a:off x="429768" y="3776472"/>
            <a:ext cx="45354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r>
              <a:rPr lang="en-US" sz="1200" dirty="0">
                <a:solidFill>
                  <a:srgbClr val="1C1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polynomial-time algorithm is known. Approximation algorithms can get close, but cannot guarantee the optimal solution.</a:t>
            </a:r>
            <a:endParaRPr lang="en-US" sz="1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74FD1BC-7C6C-D724-5DA7-C967940B31A3}"/>
              </a:ext>
            </a:extLst>
          </p:cNvPr>
          <p:cNvSpPr/>
          <p:nvPr/>
        </p:nvSpPr>
        <p:spPr>
          <a:xfrm>
            <a:off x="320040" y="45720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TSP Website — history, examples &amp; best-known tours →</a:t>
            </a:r>
            <a:endParaRPr lang="en-US" sz="11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561E7BC-32E9-6046-D0C0-3EE1DB84C301}"/>
              </a:ext>
            </a:extLst>
          </p:cNvPr>
          <p:cNvSpPr/>
          <p:nvPr/>
        </p:nvSpPr>
        <p:spPr>
          <a:xfrm>
            <a:off x="6803136" y="1499616"/>
            <a:ext cx="1920240" cy="1563622"/>
          </a:xfrm>
          <a:prstGeom prst="line">
            <a:avLst/>
          </a:prstGeom>
          <a:noFill/>
          <a:ln w="22860">
            <a:solidFill>
              <a:srgbClr val="00BCD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71B066D-8AFF-CAD8-E171-C37065DEF8FC}"/>
              </a:ext>
            </a:extLst>
          </p:cNvPr>
          <p:cNvSpPr/>
          <p:nvPr/>
        </p:nvSpPr>
        <p:spPr>
          <a:xfrm>
            <a:off x="8266176" y="1865376"/>
            <a:ext cx="457200" cy="1188720"/>
          </a:xfrm>
          <a:prstGeom prst="line">
            <a:avLst/>
          </a:prstGeom>
          <a:noFill/>
          <a:ln w="22860">
            <a:solidFill>
              <a:srgbClr val="00BCD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06E963C-5EAD-FC59-8B3D-48F91C0392EF}"/>
              </a:ext>
            </a:extLst>
          </p:cNvPr>
          <p:cNvSpPr/>
          <p:nvPr/>
        </p:nvSpPr>
        <p:spPr>
          <a:xfrm flipH="1">
            <a:off x="7902497" y="1865376"/>
            <a:ext cx="345390" cy="2468880"/>
          </a:xfrm>
          <a:prstGeom prst="line">
            <a:avLst/>
          </a:prstGeom>
          <a:noFill/>
          <a:ln w="22860">
            <a:solidFill>
              <a:srgbClr val="00BCD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CEB51DE-E0C5-9E5D-7C67-64FB4FC6659E}"/>
              </a:ext>
            </a:extLst>
          </p:cNvPr>
          <p:cNvSpPr/>
          <p:nvPr/>
        </p:nvSpPr>
        <p:spPr>
          <a:xfrm>
            <a:off x="6437376" y="4562856"/>
            <a:ext cx="0" cy="0"/>
          </a:xfrm>
          <a:prstGeom prst="line">
            <a:avLst/>
          </a:prstGeom>
          <a:noFill/>
          <a:ln w="22860">
            <a:solidFill>
              <a:srgbClr val="00BCD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6247217-8B61-A72B-715A-E8E46C9B09DD}"/>
              </a:ext>
            </a:extLst>
          </p:cNvPr>
          <p:cNvSpPr/>
          <p:nvPr/>
        </p:nvSpPr>
        <p:spPr>
          <a:xfrm>
            <a:off x="6675120" y="1371600"/>
            <a:ext cx="256032" cy="256032"/>
          </a:xfrm>
          <a:prstGeom prst="ellipse">
            <a:avLst/>
          </a:prstGeom>
          <a:solidFill>
            <a:srgbClr val="0D1B2A"/>
          </a:solidFill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513D374-7394-AFA2-4F2D-C701E0989AFB}"/>
              </a:ext>
            </a:extLst>
          </p:cNvPr>
          <p:cNvSpPr/>
          <p:nvPr/>
        </p:nvSpPr>
        <p:spPr>
          <a:xfrm>
            <a:off x="6573049" y="1161285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C₁</a:t>
            </a:r>
            <a:endParaRPr lang="en-US" sz="11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4862D14-2B08-B8F0-CF03-2BB638E4052A}"/>
              </a:ext>
            </a:extLst>
          </p:cNvPr>
          <p:cNvSpPr/>
          <p:nvPr/>
        </p:nvSpPr>
        <p:spPr>
          <a:xfrm>
            <a:off x="8138160" y="1737360"/>
            <a:ext cx="256032" cy="256032"/>
          </a:xfrm>
          <a:prstGeom prst="ellipse">
            <a:avLst/>
          </a:prstGeom>
          <a:solidFill>
            <a:srgbClr val="0D1B2A"/>
          </a:solidFill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5FCEE45-568E-CCCD-F8E7-177214D64114}"/>
              </a:ext>
            </a:extLst>
          </p:cNvPr>
          <p:cNvSpPr/>
          <p:nvPr/>
        </p:nvSpPr>
        <p:spPr>
          <a:xfrm>
            <a:off x="8028432" y="15179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C₂</a:t>
            </a:r>
            <a:endParaRPr lang="en-US" sz="11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FF40A0E7-EFC2-1C39-41A1-8E387D4AE734}"/>
              </a:ext>
            </a:extLst>
          </p:cNvPr>
          <p:cNvSpPr/>
          <p:nvPr/>
        </p:nvSpPr>
        <p:spPr>
          <a:xfrm>
            <a:off x="8595360" y="2926080"/>
            <a:ext cx="256032" cy="256032"/>
          </a:xfrm>
          <a:prstGeom prst="ellipse">
            <a:avLst/>
          </a:prstGeom>
          <a:solidFill>
            <a:srgbClr val="0D1B2A"/>
          </a:solidFill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A276079-1462-BDF9-E124-081419146848}"/>
              </a:ext>
            </a:extLst>
          </p:cNvPr>
          <p:cNvSpPr/>
          <p:nvPr/>
        </p:nvSpPr>
        <p:spPr>
          <a:xfrm>
            <a:off x="8503920" y="32004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C₃</a:t>
            </a:r>
            <a:endParaRPr lang="en-US" sz="11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53BC228-6B4B-5D7E-3F97-4D6EBF57A12C}"/>
              </a:ext>
            </a:extLst>
          </p:cNvPr>
          <p:cNvSpPr/>
          <p:nvPr/>
        </p:nvSpPr>
        <p:spPr>
          <a:xfrm>
            <a:off x="7772400" y="4206240"/>
            <a:ext cx="256032" cy="256032"/>
          </a:xfrm>
          <a:prstGeom prst="ellipse">
            <a:avLst/>
          </a:prstGeom>
          <a:solidFill>
            <a:srgbClr val="0D1B2A"/>
          </a:solidFill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9730455-08D8-487D-CF7A-DCE4B2F9F767}"/>
              </a:ext>
            </a:extLst>
          </p:cNvPr>
          <p:cNvSpPr/>
          <p:nvPr/>
        </p:nvSpPr>
        <p:spPr>
          <a:xfrm>
            <a:off x="7680217" y="445312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C₄</a:t>
            </a:r>
            <a:endParaRPr lang="en-US" sz="11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27ED6115-817E-DF08-A1A3-6049294C556F}"/>
              </a:ext>
            </a:extLst>
          </p:cNvPr>
          <p:cNvSpPr/>
          <p:nvPr/>
        </p:nvSpPr>
        <p:spPr>
          <a:xfrm>
            <a:off x="6309360" y="4434840"/>
            <a:ext cx="256032" cy="256032"/>
          </a:xfrm>
          <a:prstGeom prst="ellipse">
            <a:avLst/>
          </a:prstGeom>
          <a:solidFill>
            <a:srgbClr val="0D1B2A"/>
          </a:solidFill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7CAA7C38-335D-47F4-EBCC-309C80F1AFC0}"/>
              </a:ext>
            </a:extLst>
          </p:cNvPr>
          <p:cNvSpPr/>
          <p:nvPr/>
        </p:nvSpPr>
        <p:spPr>
          <a:xfrm>
            <a:off x="6217920" y="47091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C₅</a:t>
            </a:r>
            <a:endParaRPr lang="en-US" sz="11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7BFC3F39-FD67-7F05-F4C6-1419111AD133}"/>
              </a:ext>
            </a:extLst>
          </p:cNvPr>
          <p:cNvSpPr/>
          <p:nvPr/>
        </p:nvSpPr>
        <p:spPr>
          <a:xfrm>
            <a:off x="5669280" y="3017520"/>
            <a:ext cx="256032" cy="256032"/>
          </a:xfrm>
          <a:prstGeom prst="ellipse">
            <a:avLst/>
          </a:prstGeom>
          <a:solidFill>
            <a:srgbClr val="0D1B2A"/>
          </a:solidFill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4CFF6A64-BC7E-DD11-59D2-0EC30B0D1EB8}"/>
              </a:ext>
            </a:extLst>
          </p:cNvPr>
          <p:cNvSpPr/>
          <p:nvPr/>
        </p:nvSpPr>
        <p:spPr>
          <a:xfrm>
            <a:off x="5566912" y="2807207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C₆</a:t>
            </a:r>
            <a:endParaRPr lang="en-US" sz="11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68D74B22-696B-66AE-BB04-3EB0534C1DC8}"/>
              </a:ext>
            </a:extLst>
          </p:cNvPr>
          <p:cNvSpPr/>
          <p:nvPr/>
        </p:nvSpPr>
        <p:spPr>
          <a:xfrm>
            <a:off x="5486400" y="47731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6-city tour</a:t>
            </a:r>
            <a:br>
              <a:rPr lang="en-US" sz="10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6! = 720 tours</a:t>
            </a:r>
            <a:endParaRPr lang="en-US" sz="1000" dirty="0"/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C6556EE1-54D5-EB74-C622-81DF8767BE16}"/>
              </a:ext>
            </a:extLst>
          </p:cNvPr>
          <p:cNvSpPr/>
          <p:nvPr/>
        </p:nvSpPr>
        <p:spPr>
          <a:xfrm>
            <a:off x="5357640" y="2135675"/>
            <a:ext cx="10980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C₁ C</a:t>
            </a:r>
            <a:r>
              <a:rPr lang="en-US" sz="1100" b="1" baseline="-25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</a:t>
            </a:r>
            <a:r>
              <a:rPr lang="en-US" sz="1100" b="1" baseline="-25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</a:t>
            </a:r>
            <a:r>
              <a:rPr lang="en-US" sz="1100" b="1" baseline="-25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</a:t>
            </a:r>
            <a:r>
              <a:rPr lang="en-US" sz="1100" b="1" baseline="-25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</a:t>
            </a:r>
            <a:r>
              <a:rPr lang="en-US" sz="1100" b="1" baseline="-25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baseline="-25000" dirty="0"/>
          </a:p>
        </p:txBody>
      </p:sp>
      <p:sp>
        <p:nvSpPr>
          <p:cNvPr id="35" name="Text 17">
            <a:extLst>
              <a:ext uri="{FF2B5EF4-FFF2-40B4-BE49-F238E27FC236}">
                <a16:creationId xmlns:a16="http://schemas.microsoft.com/office/drawing/2014/main" id="{E0ECA596-B857-AA90-A77D-E7144BA8C740}"/>
              </a:ext>
            </a:extLst>
          </p:cNvPr>
          <p:cNvSpPr/>
          <p:nvPr/>
        </p:nvSpPr>
        <p:spPr>
          <a:xfrm>
            <a:off x="6217919" y="1286902"/>
            <a:ext cx="4572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baseline="-25000" dirty="0"/>
          </a:p>
        </p:txBody>
      </p:sp>
    </p:spTree>
    <p:extLst>
      <p:ext uri="{BB962C8B-B14F-4D97-AF65-F5344CB8AC3E}">
        <p14:creationId xmlns:p14="http://schemas.microsoft.com/office/powerpoint/2010/main" val="1206690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0" y="-457200"/>
            <a:ext cx="5486400" cy="5486400"/>
          </a:xfrm>
          <a:prstGeom prst="ellipse">
            <a:avLst/>
          </a:prstGeom>
          <a:solidFill>
            <a:srgbClr val="FF6B35">
              <a:alpha val="8000"/>
            </a:srgbClr>
          </a:solidFill>
          <a:ln w="12700">
            <a:solidFill>
              <a:srgbClr val="FF6B3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6858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NP-Complete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3063240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of problems at the boundary of the known and unknown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3657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problems are solvable in theory — but we don't know HOW efficiently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71016"/>
          </a:solidFill>
          <a:ln w="12700">
            <a:solidFill>
              <a:srgbClr val="0710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— Algorithms &amp; Complexity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NP-Complete Problems: Two Famous Examples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06908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3F2F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069080" cy="914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2412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77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Logical Satisfiability (SAT)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" y="152704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logical expression like: </a:t>
            </a:r>
            <a:r>
              <a:rPr lang="en-US" sz="1200" i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((not p) or (not q)) and r
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values for </a:t>
            </a:r>
            <a:r>
              <a:rPr lang="en-US" sz="1200" i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i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i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make it TRUE.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487168"/>
            <a:ext cx="3794760" cy="475488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" y="2505456"/>
            <a:ext cx="3666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force: check 2ⁿ assignments.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n=100: over 1 nonillion combinations!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01752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scheduling, circuit design, AI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solvers handle many large cases fast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known worst-case polynomial algorithm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41605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u="sng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Wikipedia: SAT Problem →</a:t>
            </a:r>
            <a:r>
              <a:rPr lang="en-US" sz="1000" u="sng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|  SAT Solvers →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BF115C-1F8C-79DD-600C-FC03BD8D4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BD9460F-652C-274A-B8B0-3E10B2315710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F14C7C4-2D7E-59C7-017B-B76CE1970002}"/>
              </a:ext>
            </a:extLst>
          </p:cNvPr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NP-Complete Problems: Two Famous Examples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D48F0E4-6B7F-93ED-AAF9-1F8D36C523E4}"/>
              </a:ext>
            </a:extLst>
          </p:cNvPr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E8B6AC2-128E-6248-A63E-8FCA0A50FFC5}"/>
              </a:ext>
            </a:extLst>
          </p:cNvPr>
          <p:cNvSpPr/>
          <p:nvPr/>
        </p:nvSpPr>
        <p:spPr>
          <a:xfrm>
            <a:off x="274320" y="914400"/>
            <a:ext cx="406908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3F2F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B4144C5-EAF5-A4F9-B8C6-365B8AA01C0D}"/>
              </a:ext>
            </a:extLst>
          </p:cNvPr>
          <p:cNvSpPr/>
          <p:nvPr/>
        </p:nvSpPr>
        <p:spPr>
          <a:xfrm>
            <a:off x="274320" y="914400"/>
            <a:ext cx="4069080" cy="914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1FFD49C-5C17-B1E5-651F-08CE4C42EA05}"/>
              </a:ext>
            </a:extLst>
          </p:cNvPr>
          <p:cNvSpPr/>
          <p:nvPr/>
        </p:nvSpPr>
        <p:spPr>
          <a:xfrm>
            <a:off x="411480" y="102412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77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Logical Satisfiability (SAT)</a:t>
            </a:r>
            <a:endParaRPr lang="en-US" sz="17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15095E1-E07D-76E2-C310-4CE1F9A80773}"/>
              </a:ext>
            </a:extLst>
          </p:cNvPr>
          <p:cNvSpPr/>
          <p:nvPr/>
        </p:nvSpPr>
        <p:spPr>
          <a:xfrm>
            <a:off x="411480" y="152704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logical expression like: </a:t>
            </a:r>
            <a:r>
              <a:rPr lang="en-US" sz="1200" i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((not p) or (not q)) and r
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values for </a:t>
            </a:r>
            <a:r>
              <a:rPr lang="en-US" sz="1200" i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i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i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make it TRUE.</a:t>
            </a:r>
            <a:endParaRPr lang="en-US" sz="1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A2ECA06-D5A4-90AC-6DAD-9AABC0FE39B5}"/>
              </a:ext>
            </a:extLst>
          </p:cNvPr>
          <p:cNvSpPr/>
          <p:nvPr/>
        </p:nvSpPr>
        <p:spPr>
          <a:xfrm>
            <a:off x="411480" y="2487168"/>
            <a:ext cx="3794760" cy="475488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5ED582C-03C5-D9BD-0664-9A6622D8E262}"/>
              </a:ext>
            </a:extLst>
          </p:cNvPr>
          <p:cNvSpPr/>
          <p:nvPr/>
        </p:nvSpPr>
        <p:spPr>
          <a:xfrm>
            <a:off x="475488" y="2505456"/>
            <a:ext cx="3666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force: check 2ⁿ assignments.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n=100: over 1 nonillion combinations!</a:t>
            </a: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DD77E54-3355-4DBF-DF52-BB67F11A7FE5}"/>
              </a:ext>
            </a:extLst>
          </p:cNvPr>
          <p:cNvSpPr/>
          <p:nvPr/>
        </p:nvSpPr>
        <p:spPr>
          <a:xfrm>
            <a:off x="411480" y="301752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scheduling, circuit design, AI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solvers handle many large cases fast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known worst-case polynomial algorithm</a:t>
            </a:r>
            <a:endParaRPr lang="en-US" sz="1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AA69216-12E9-A153-3843-5FD9572EC068}"/>
              </a:ext>
            </a:extLst>
          </p:cNvPr>
          <p:cNvSpPr/>
          <p:nvPr/>
        </p:nvSpPr>
        <p:spPr>
          <a:xfrm>
            <a:off x="411480" y="41605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u="sng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Wikipedia: SAT Problem →</a:t>
            </a:r>
            <a:r>
              <a:rPr lang="en-US" sz="1000" u="sng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|  SAT Solvers →</a:t>
            </a:r>
            <a:endParaRPr lang="en-US" sz="1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AF26F4B-431A-6576-67F7-79946E0D8FF5}"/>
              </a:ext>
            </a:extLst>
          </p:cNvPr>
          <p:cNvSpPr/>
          <p:nvPr/>
        </p:nvSpPr>
        <p:spPr>
          <a:xfrm>
            <a:off x="4617720" y="914400"/>
            <a:ext cx="425196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FCE4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BA0A4BF-3EB2-F20B-3889-7291CFAE0728}"/>
              </a:ext>
            </a:extLst>
          </p:cNvPr>
          <p:cNvSpPr/>
          <p:nvPr/>
        </p:nvSpPr>
        <p:spPr>
          <a:xfrm>
            <a:off x="4617720" y="914400"/>
            <a:ext cx="4251960" cy="914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58C567D-C32D-6DDF-B2BA-04781D3CCCCA}"/>
              </a:ext>
            </a:extLst>
          </p:cNvPr>
          <p:cNvSpPr/>
          <p:nvPr/>
        </p:nvSpPr>
        <p:spPr>
          <a:xfrm>
            <a:off x="4754880" y="102412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Number Partition Problem</a:t>
            </a:r>
            <a:endParaRPr lang="en-US" sz="17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D0704F8-BCD6-B102-81C7-0334C321CC0A}"/>
              </a:ext>
            </a:extLst>
          </p:cNvPr>
          <p:cNvSpPr/>
          <p:nvPr/>
        </p:nvSpPr>
        <p:spPr>
          <a:xfrm>
            <a:off x="4754880" y="1527048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set of integers, split them into two groups so their sums are equal (or as close as possible).</a:t>
            </a:r>
            <a:endParaRPr lang="en-US" sz="12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BFBA569-8A81-1933-7025-2FC5B7C95AE7}"/>
              </a:ext>
            </a:extLst>
          </p:cNvPr>
          <p:cNvSpPr/>
          <p:nvPr/>
        </p:nvSpPr>
        <p:spPr>
          <a:xfrm>
            <a:off x="4754880" y="2212848"/>
            <a:ext cx="3977640" cy="6400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4E667E8-3A81-AEA3-0D6C-0EAC5A0CFA0E}"/>
              </a:ext>
            </a:extLst>
          </p:cNvPr>
          <p:cNvSpPr/>
          <p:nvPr/>
        </p:nvSpPr>
        <p:spPr>
          <a:xfrm>
            <a:off x="4818888" y="2240280"/>
            <a:ext cx="38496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analogy: Split grocery bags between two people so each carries the same weight!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A91B2A0-5F54-79A0-10CF-1C3887F78120}"/>
              </a:ext>
            </a:extLst>
          </p:cNvPr>
          <p:cNvSpPr/>
          <p:nvPr/>
        </p:nvSpPr>
        <p:spPr>
          <a:xfrm>
            <a:off x="4754880" y="294436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instances solvable quickly in practice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known polynomial-time algorithm for all cases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proven impossible either</a:t>
            </a:r>
            <a:endParaRPr lang="en-US" sz="12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B61E3B1-E29A-2E6B-5F2E-3609D2493F66}"/>
              </a:ext>
            </a:extLst>
          </p:cNvPr>
          <p:cNvSpPr/>
          <p:nvPr/>
        </p:nvSpPr>
        <p:spPr>
          <a:xfrm>
            <a:off x="4754880" y="41605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u="sng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Wikipedia: Partition Problem →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870361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 = NP Question: Computer Science's Biggest Mystery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8595360" cy="914400"/>
          </a:xfrm>
          <a:prstGeom prst="rect">
            <a:avLst/>
          </a:prstGeom>
          <a:solidFill>
            <a:srgbClr val="E8F4FD"/>
          </a:solidFill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960120"/>
            <a:ext cx="83027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Property: 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ONE NP-complete problem has a polynomial-time solution, then ALL NP-complete problems do. Solve one — solve all.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993392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P = NP?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74320" y="2441448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problems solvable in polynomial time.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 = problems whose solutions can be verified in polynomial time.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question: are these the same set?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computer scientists believe P ≠ NP — but no one has proven it. This is considered the most important unsolved problem in all of theoretical computer science.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40740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List of all NP-complete problems 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0" y="1938528"/>
            <a:ext cx="36576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0" y="202996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BC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Hundreds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5303520" y="2715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NP-complete problems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0" y="3127248"/>
            <a:ext cx="29260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for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0" y="3520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 Years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5303520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no proof either way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Undecidable Problems: Beyond Hard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 descr="A wooden cubes on a stand&#10;&#10;AI-generated content may be incorrect.">
            <a:extLst>
              <a:ext uri="{FF2B5EF4-FFF2-40B4-BE49-F238E27FC236}">
                <a16:creationId xmlns:a16="http://schemas.microsoft.com/office/drawing/2014/main" id="{72A7C797-9746-1073-046B-F02859C2D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638" y="1418683"/>
            <a:ext cx="7251700" cy="260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F19D79-7866-41FB-EC93-B6ACE5C49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698E44A-D731-8DED-3ECE-075088A956CD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2DA474-CB76-3658-DD8E-E8FB65022757}"/>
              </a:ext>
            </a:extLst>
          </p:cNvPr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Undecidable Problems: Beyond Hard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0074114-0A34-8368-5003-6D569586E69F}"/>
              </a:ext>
            </a:extLst>
          </p:cNvPr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E571397-3B95-E367-EFE1-55225F795348}"/>
              </a:ext>
            </a:extLst>
          </p:cNvPr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problems cannot be solved by ANY algorithm — even with infinite time and memory.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A9A32B0-A058-A162-0B95-2D4F1FC4DED0}"/>
              </a:ext>
            </a:extLst>
          </p:cNvPr>
          <p:cNvSpPr/>
          <p:nvPr/>
        </p:nvSpPr>
        <p:spPr>
          <a:xfrm>
            <a:off x="274320" y="1261872"/>
            <a:ext cx="859536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C590D82-1598-3CC6-1018-FD0EB3AE64A2}"/>
              </a:ext>
            </a:extLst>
          </p:cNvPr>
          <p:cNvSpPr/>
          <p:nvPr/>
        </p:nvSpPr>
        <p:spPr>
          <a:xfrm>
            <a:off x="274320" y="1261872"/>
            <a:ext cx="2103120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F807609-5509-949B-89EC-CB995B693A90}"/>
              </a:ext>
            </a:extLst>
          </p:cNvPr>
          <p:cNvSpPr/>
          <p:nvPr/>
        </p:nvSpPr>
        <p:spPr>
          <a:xfrm>
            <a:off x="274320" y="126187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 (P)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1573172-BD45-DECC-131C-62AC857883EE}"/>
              </a:ext>
            </a:extLst>
          </p:cNvPr>
          <p:cNvSpPr/>
          <p:nvPr/>
        </p:nvSpPr>
        <p:spPr>
          <a:xfrm>
            <a:off x="2514600" y="1261872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Solvable in polynomial time — O(p(n))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5157914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C0FE07-1B68-F8A6-8546-864BF60EE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A0B16CB-57FD-0EFA-3FE4-1A5C58A393A9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A9A2523-88DA-4D50-342A-BA9CB09F3533}"/>
              </a:ext>
            </a:extLst>
          </p:cNvPr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Undecidable Problems: Beyond Hard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EB52073-4347-8364-8CB2-F9A2F923AFA9}"/>
              </a:ext>
            </a:extLst>
          </p:cNvPr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7A5DA14-B56C-2CDC-00E1-23254E594D13}"/>
              </a:ext>
            </a:extLst>
          </p:cNvPr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problems cannot be solved by ANY algorithm — even with infinite time and memory.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0559790-501F-4BCD-5FB7-3EBBFE5E0F3F}"/>
              </a:ext>
            </a:extLst>
          </p:cNvPr>
          <p:cNvSpPr/>
          <p:nvPr/>
        </p:nvSpPr>
        <p:spPr>
          <a:xfrm>
            <a:off x="274320" y="1261872"/>
            <a:ext cx="859536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EB79AD7-4A07-A882-8DDA-05A6B5E1409C}"/>
              </a:ext>
            </a:extLst>
          </p:cNvPr>
          <p:cNvSpPr/>
          <p:nvPr/>
        </p:nvSpPr>
        <p:spPr>
          <a:xfrm>
            <a:off x="274320" y="1261872"/>
            <a:ext cx="2103120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0E21ADE-9488-CBCB-1ED1-7100264A8D99}"/>
              </a:ext>
            </a:extLst>
          </p:cNvPr>
          <p:cNvSpPr/>
          <p:nvPr/>
        </p:nvSpPr>
        <p:spPr>
          <a:xfrm>
            <a:off x="274320" y="126187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 (P)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D50CA34-09E5-446C-8030-E71202C10AB2}"/>
              </a:ext>
            </a:extLst>
          </p:cNvPr>
          <p:cNvSpPr/>
          <p:nvPr/>
        </p:nvSpPr>
        <p:spPr>
          <a:xfrm>
            <a:off x="2514600" y="1261872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Solvable in polynomial time — O(p(n))</a:t>
            </a:r>
            <a:endParaRPr lang="en-US" sz="13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BBF240A-3226-A146-CA5E-0452716185E1}"/>
              </a:ext>
            </a:extLst>
          </p:cNvPr>
          <p:cNvSpPr/>
          <p:nvPr/>
        </p:nvSpPr>
        <p:spPr>
          <a:xfrm>
            <a:off x="274320" y="2039112"/>
            <a:ext cx="859536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CC55132-D22D-026A-D94F-A1B8F533275D}"/>
              </a:ext>
            </a:extLst>
          </p:cNvPr>
          <p:cNvSpPr/>
          <p:nvPr/>
        </p:nvSpPr>
        <p:spPr>
          <a:xfrm>
            <a:off x="274320" y="2039112"/>
            <a:ext cx="2103120" cy="6583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92C27A7-5838-16C1-8ACE-6486CFFB596A}"/>
              </a:ext>
            </a:extLst>
          </p:cNvPr>
          <p:cNvSpPr/>
          <p:nvPr/>
        </p:nvSpPr>
        <p:spPr>
          <a:xfrm>
            <a:off x="274320" y="203911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NP-COMPLETE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4BF4F6B-3C45-4B15-897A-C4BA2DEF2404}"/>
              </a:ext>
            </a:extLst>
          </p:cNvPr>
          <p:cNvSpPr/>
          <p:nvPr/>
        </p:nvSpPr>
        <p:spPr>
          <a:xfrm>
            <a:off x="2514600" y="2039112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Solvable, but all currently known algorithms are exponential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0921699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BE10E3-0EA9-802F-200E-775C3057A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CC1C135-8EC9-FD28-DEFD-11830A2F640F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37C0D53-7645-0DF1-8C13-5787EA6D36DF}"/>
              </a:ext>
            </a:extLst>
          </p:cNvPr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Undecidable Problems: Beyond Hard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BE25B65-1907-B147-A1F7-E6A230929E91}"/>
              </a:ext>
            </a:extLst>
          </p:cNvPr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065E184-628F-43AC-731B-16203505BA25}"/>
              </a:ext>
            </a:extLst>
          </p:cNvPr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problems cannot be solved by ANY algorithm — even with infinite time and memory.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7416190-E7ED-6F15-8E3B-EB18E9A7839F}"/>
              </a:ext>
            </a:extLst>
          </p:cNvPr>
          <p:cNvSpPr/>
          <p:nvPr/>
        </p:nvSpPr>
        <p:spPr>
          <a:xfrm>
            <a:off x="274320" y="1261872"/>
            <a:ext cx="859536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E3789B6-7B42-E620-C06E-735D89E6492F}"/>
              </a:ext>
            </a:extLst>
          </p:cNvPr>
          <p:cNvSpPr/>
          <p:nvPr/>
        </p:nvSpPr>
        <p:spPr>
          <a:xfrm>
            <a:off x="274320" y="1261872"/>
            <a:ext cx="2103120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C3849FE-1E79-FF57-FEE5-60F976339E6D}"/>
              </a:ext>
            </a:extLst>
          </p:cNvPr>
          <p:cNvSpPr/>
          <p:nvPr/>
        </p:nvSpPr>
        <p:spPr>
          <a:xfrm>
            <a:off x="274320" y="126187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 (P)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5E3DC79-CAF9-143E-D734-1AF94F6E0A43}"/>
              </a:ext>
            </a:extLst>
          </p:cNvPr>
          <p:cNvSpPr/>
          <p:nvPr/>
        </p:nvSpPr>
        <p:spPr>
          <a:xfrm>
            <a:off x="2514600" y="1261872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Solvable in polynomial time — O(p(n))</a:t>
            </a:r>
            <a:endParaRPr lang="en-US" sz="13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64F279B-FC36-5A86-D434-0127E5A7B511}"/>
              </a:ext>
            </a:extLst>
          </p:cNvPr>
          <p:cNvSpPr/>
          <p:nvPr/>
        </p:nvSpPr>
        <p:spPr>
          <a:xfrm>
            <a:off x="274320" y="2039112"/>
            <a:ext cx="859536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5BAA6F4-2157-0BBC-AA19-529CB3F721E8}"/>
              </a:ext>
            </a:extLst>
          </p:cNvPr>
          <p:cNvSpPr/>
          <p:nvPr/>
        </p:nvSpPr>
        <p:spPr>
          <a:xfrm>
            <a:off x="274320" y="2039112"/>
            <a:ext cx="2103120" cy="6583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F8FCE12-8C7B-49E9-1FDC-29221D888648}"/>
              </a:ext>
            </a:extLst>
          </p:cNvPr>
          <p:cNvSpPr/>
          <p:nvPr/>
        </p:nvSpPr>
        <p:spPr>
          <a:xfrm>
            <a:off x="274320" y="203911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NP-COMPLETE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E9F439B-8277-5027-4C2B-B81C79E79721}"/>
              </a:ext>
            </a:extLst>
          </p:cNvPr>
          <p:cNvSpPr/>
          <p:nvPr/>
        </p:nvSpPr>
        <p:spPr>
          <a:xfrm>
            <a:off x="2514600" y="2039112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Solvable, but all currently known algorithms are exponential</a:t>
            </a:r>
            <a:endParaRPr lang="en-US" sz="13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63F7294-AEB7-EA1A-C064-C01F8E3131ED}"/>
              </a:ext>
            </a:extLst>
          </p:cNvPr>
          <p:cNvSpPr/>
          <p:nvPr/>
        </p:nvSpPr>
        <p:spPr>
          <a:xfrm>
            <a:off x="274320" y="2816352"/>
            <a:ext cx="859536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32075DC-03BB-5DC4-709B-988E49307CC8}"/>
              </a:ext>
            </a:extLst>
          </p:cNvPr>
          <p:cNvSpPr/>
          <p:nvPr/>
        </p:nvSpPr>
        <p:spPr>
          <a:xfrm>
            <a:off x="274320" y="2816352"/>
            <a:ext cx="2103120" cy="6583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29E4C11-78EC-AC38-62E2-D21E74B583BC}"/>
              </a:ext>
            </a:extLst>
          </p:cNvPr>
          <p:cNvSpPr/>
          <p:nvPr/>
        </p:nvSpPr>
        <p:spPr>
          <a:xfrm>
            <a:off x="274320" y="281635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UNDECIDABLE</a:t>
            </a: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62E5949-630E-7D4A-0E7C-D811AE19B13A}"/>
              </a:ext>
            </a:extLst>
          </p:cNvPr>
          <p:cNvSpPr/>
          <p:nvPr/>
        </p:nvSpPr>
        <p:spPr>
          <a:xfrm>
            <a:off x="2514600" y="2816352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IMPOSSIBLE — no algorithm can ever exist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2300777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20C2F0-8C3A-6EC4-3F4F-E8C35B6B6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1AAF58D-3137-4D3E-279A-6837A42FD572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0B67A58-EBE4-56D7-3C72-D9BEA7C9D738}"/>
              </a:ext>
            </a:extLst>
          </p:cNvPr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Undecidable Problems: Beyond Hard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D9098D7-72A4-C3B9-4932-78759C9EFC71}"/>
              </a:ext>
            </a:extLst>
          </p:cNvPr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42650C8-350F-5A0F-F30F-AB2BCE56FFEF}"/>
              </a:ext>
            </a:extLst>
          </p:cNvPr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problems cannot be solved by ANY algorithm — even with infinite time and memory.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A09E36E-2E3B-38E0-A266-7E4079C83BAA}"/>
              </a:ext>
            </a:extLst>
          </p:cNvPr>
          <p:cNvSpPr/>
          <p:nvPr/>
        </p:nvSpPr>
        <p:spPr>
          <a:xfrm>
            <a:off x="274320" y="1261872"/>
            <a:ext cx="859536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0AEDD00-1EF4-ACC7-94AC-B7A949000325}"/>
              </a:ext>
            </a:extLst>
          </p:cNvPr>
          <p:cNvSpPr/>
          <p:nvPr/>
        </p:nvSpPr>
        <p:spPr>
          <a:xfrm>
            <a:off x="274320" y="1261872"/>
            <a:ext cx="2103120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72E5999-9A99-31F8-D142-840F0A154EAF}"/>
              </a:ext>
            </a:extLst>
          </p:cNvPr>
          <p:cNvSpPr/>
          <p:nvPr/>
        </p:nvSpPr>
        <p:spPr>
          <a:xfrm>
            <a:off x="274320" y="126187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 (P)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D36E5B5-F64A-5C0E-053A-2E768BBD6001}"/>
              </a:ext>
            </a:extLst>
          </p:cNvPr>
          <p:cNvSpPr/>
          <p:nvPr/>
        </p:nvSpPr>
        <p:spPr>
          <a:xfrm>
            <a:off x="2514600" y="1261872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Solvable in polynomial time — O(p(n))</a:t>
            </a:r>
            <a:endParaRPr lang="en-US" sz="13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C3693B2-93EF-C539-ABBC-6AF0D52E8B16}"/>
              </a:ext>
            </a:extLst>
          </p:cNvPr>
          <p:cNvSpPr/>
          <p:nvPr/>
        </p:nvSpPr>
        <p:spPr>
          <a:xfrm>
            <a:off x="274320" y="2039112"/>
            <a:ext cx="859536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A691C97-329B-0102-358E-A88EEAB7E1EB}"/>
              </a:ext>
            </a:extLst>
          </p:cNvPr>
          <p:cNvSpPr/>
          <p:nvPr/>
        </p:nvSpPr>
        <p:spPr>
          <a:xfrm>
            <a:off x="274320" y="2039112"/>
            <a:ext cx="2103120" cy="6583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624FD47-8414-283A-0C9F-B56CAB64E241}"/>
              </a:ext>
            </a:extLst>
          </p:cNvPr>
          <p:cNvSpPr/>
          <p:nvPr/>
        </p:nvSpPr>
        <p:spPr>
          <a:xfrm>
            <a:off x="274320" y="203911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NP-COMPLETE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D72D05F-A5E2-DF30-61D5-A30B14BCC92E}"/>
              </a:ext>
            </a:extLst>
          </p:cNvPr>
          <p:cNvSpPr/>
          <p:nvPr/>
        </p:nvSpPr>
        <p:spPr>
          <a:xfrm>
            <a:off x="2514600" y="2039112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Solvable, but all currently known algorithms are exponential</a:t>
            </a:r>
            <a:endParaRPr lang="en-US" sz="13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8A4F363-7EC0-151C-E044-CC49308BDE70}"/>
              </a:ext>
            </a:extLst>
          </p:cNvPr>
          <p:cNvSpPr/>
          <p:nvPr/>
        </p:nvSpPr>
        <p:spPr>
          <a:xfrm>
            <a:off x="274320" y="2816352"/>
            <a:ext cx="859536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3E0C798-054D-D0B8-EA35-0FC471EC0493}"/>
              </a:ext>
            </a:extLst>
          </p:cNvPr>
          <p:cNvSpPr/>
          <p:nvPr/>
        </p:nvSpPr>
        <p:spPr>
          <a:xfrm>
            <a:off x="274320" y="2816352"/>
            <a:ext cx="2103120" cy="6583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A930EBB-15B9-A556-AE03-C34D504F71ED}"/>
              </a:ext>
            </a:extLst>
          </p:cNvPr>
          <p:cNvSpPr/>
          <p:nvPr/>
        </p:nvSpPr>
        <p:spPr>
          <a:xfrm>
            <a:off x="274320" y="281635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UNDECIDABLE</a:t>
            </a: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A228197-265F-BE7F-AE4E-99F6D748FEFD}"/>
              </a:ext>
            </a:extLst>
          </p:cNvPr>
          <p:cNvSpPr/>
          <p:nvPr/>
        </p:nvSpPr>
        <p:spPr>
          <a:xfrm>
            <a:off x="2514600" y="2816352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IMPOSSIBLE — no algorithm can ever exist</a:t>
            </a:r>
            <a:endParaRPr lang="en-US" sz="13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8185A5DB-69D5-BA4B-5427-8D46F05792D8}"/>
              </a:ext>
            </a:extLst>
          </p:cNvPr>
          <p:cNvSpPr/>
          <p:nvPr/>
        </p:nvSpPr>
        <p:spPr>
          <a:xfrm>
            <a:off x="274320" y="3621024"/>
            <a:ext cx="8595360" cy="146304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A0D64AC-8DC3-C2D7-0919-D4449E2F6513}"/>
              </a:ext>
            </a:extLst>
          </p:cNvPr>
          <p:cNvSpPr/>
          <p:nvPr/>
        </p:nvSpPr>
        <p:spPr>
          <a:xfrm>
            <a:off x="438912" y="36758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Halting Problem</a:t>
            </a:r>
            <a:endParaRPr lang="en-US" sz="17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D9FE626-AFC1-0AFD-43D1-7BB1A3BEE175}"/>
              </a:ext>
            </a:extLst>
          </p:cNvPr>
          <p:cNvSpPr/>
          <p:nvPr/>
        </p:nvSpPr>
        <p:spPr>
          <a:xfrm>
            <a:off x="438912" y="4059936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program detect whether another program will loop forever? Alan Turing proved in 1936 that this is IMPOSSIBLE — not merely slow, but genuinely unsolvable by any algorithm.</a:t>
            </a: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B78BBA8-5F06-100C-D627-07EE96612274}"/>
              </a:ext>
            </a:extLst>
          </p:cNvPr>
          <p:cNvSpPr/>
          <p:nvPr/>
        </p:nvSpPr>
        <p:spPr>
          <a:xfrm>
            <a:off x="438912" y="4736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Wikipedia: Halting Problem →</a:t>
            </a:r>
            <a:r>
              <a:rPr lang="en-US" sz="1100" u="sng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|   Short video →</a:t>
            </a:r>
            <a:r>
              <a:rPr lang="en-US" sz="1100" u="sng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|   More undecidable problems →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274987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Alan Turing: Father of Computer Science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sessions/admiring-sleepy-johnson/mnt/125EasyAndHardProblems/Alan_Turing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8514" y="914400"/>
            <a:ext cx="2379726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98514" y="4251960"/>
            <a:ext cx="23797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Turing (1912–1954)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0040" y="932688"/>
            <a:ext cx="58955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Contributions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20040" y="1362456"/>
            <a:ext cx="589559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the Halting Problem is undecidable (1936)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Turing Machines — a foundational model of computation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Pioneered artificial intelligence and the Turing Test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Crucial WWII codebreaking work (Enigma machine)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" y="3108960"/>
            <a:ext cx="5895594" cy="868680"/>
          </a:xfrm>
          <a:prstGeom prst="rect">
            <a:avLst/>
          </a:prstGeom>
          <a:solidFill>
            <a:srgbClr val="E8F4FD"/>
          </a:solidFill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" y="3136392"/>
            <a:ext cx="562127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Machines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 the standard theoretical model of computation to this day, establishing what it means for a problem to be computable.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" y="4069080"/>
            <a:ext cx="58955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Wikipedia: Alan Turing →</a:t>
            </a:r>
            <a:r>
              <a:rPr lang="en-US" sz="1100" u="sng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|   Turing Machines →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822960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4048" y="1024128"/>
            <a:ext cx="475488" cy="47548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024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960120"/>
            <a:ext cx="7818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problems run in polynomial time — efficient and well-understood.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48" y="1773936"/>
            <a:ext cx="475488" cy="47548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773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709928"/>
            <a:ext cx="7818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NP-complete problems are solvable, but all known algorithms are exponential.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" y="2523744"/>
            <a:ext cx="475488" cy="47548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" y="25237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459736"/>
            <a:ext cx="7818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ONE NP-complete problem has a poly-time solution, they ALL do.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4048" y="3273552"/>
            <a:ext cx="475488" cy="47548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4048" y="3273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3209544"/>
            <a:ext cx="7818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NP? — The most important open question in computer science.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84048" y="4023360"/>
            <a:ext cx="475488" cy="47548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4048" y="4023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959352"/>
            <a:ext cx="7818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Undecidable problems are PROVEN impossible — no algorithm can ever solve them.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71016"/>
          </a:solidFill>
          <a:ln w="12700">
            <a:solidFill>
              <a:srgbClr val="0710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— Algorithms &amp; Complexity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1728</Words>
  <Application>Microsoft Macintosh PowerPoint</Application>
  <PresentationFormat>On-screen Show (16:9)</PresentationFormat>
  <Paragraphs>352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Easy and Hard Problems in Computer Science</dc:title>
  <dc:subject>PptxGenJS Presentation</dc:subject>
  <dc:creator>CS Education</dc:creator>
  <cp:lastModifiedBy>Toby Donaldson</cp:lastModifiedBy>
  <cp:revision>2</cp:revision>
  <dcterms:created xsi:type="dcterms:W3CDTF">2026-03-30T22:44:14Z</dcterms:created>
  <dcterms:modified xsi:type="dcterms:W3CDTF">2026-03-30T23:41:29Z</dcterms:modified>
</cp:coreProperties>
</file>