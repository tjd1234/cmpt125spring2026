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5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5C29D-8A7E-D8E0-FCF2-F0E7C033B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C5868-64E1-C26A-7A12-F3C188C60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1D835-BADF-6017-76EA-C13DC2F2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8524-B740-FE40-9C95-2E78C2A4373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8E38B-D2BA-1E61-3E3D-22FD7E57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95499-0781-9335-8527-2CF09352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220C5-E402-E54A-8408-9915012FC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8FCDA-7675-BB19-6550-CE968C6D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9516D-2110-2A40-99FC-11A45F88B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255A5-3FF2-4DC4-1736-D34337E9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8524-B740-FE40-9C95-2E78C2A4373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7D40B-80E7-59C3-AB00-AA17E321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B7055-A93D-34FE-A55F-34A7EA8F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220C5-E402-E54A-8408-9915012FC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0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2CFE2-70CA-D2DC-F615-2AA4CE52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CBCF0-1A51-7789-4B2C-6DFC39BD0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1C8BD-BFF3-C95D-0ED0-945F8F165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8524-B740-FE40-9C95-2E78C2A4373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D5177-0A92-98E9-D9F2-B95EFE8F1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EA26-EF55-3958-7B57-8A206370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220C5-E402-E54A-8408-9915012FC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35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4A4B-5489-1C71-1044-1AE150D99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402F8-F3AE-30D1-24EF-FDB2F886F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3F3F0-B12A-99BC-CBBF-1D70D509A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E323E-35AF-E170-F688-2982C2747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8524-B740-FE40-9C95-2E78C2A4373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6D63E-9ECC-FB2F-B544-C8F3FEB4F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9BA17-1FC0-A84E-0A83-DFF6DF1F1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220C5-E402-E54A-8408-9915012FC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39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F410-C744-FAF3-FE82-D03ABCFD4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0C216-9601-605E-151D-7F1E5E1D9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0D7D9-DFB2-8C57-D90D-919BC9D8C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E54907-6BC2-952F-FD2B-C8FCD578F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446FEA-B661-56B3-6E7C-1C2873D0A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0FC6AB-4ADC-776B-3D56-37E3FA396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8524-B740-FE40-9C95-2E78C2A4373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5942E7-325E-C442-E405-1F58F600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60706-DDB1-FE69-8827-506C9856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220C5-E402-E54A-8408-9915012FC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5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20DB-42AC-E50B-D122-69A94375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A1F48-3798-4AAF-6FAE-3DA0A3851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8524-B740-FE40-9C95-2E78C2A4373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3747E-2354-CC22-B496-7A479B87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CC433-A6D6-27A5-7A6F-492AD6DF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220C5-E402-E54A-8408-9915012FC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13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24CA6-621C-79C7-F4CD-71B01018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8524-B740-FE40-9C95-2E78C2A4373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B86CF-0D8E-7DE8-A581-D95DA13B9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C3E96-D001-7DB9-5C04-5E42169A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220C5-E402-E54A-8408-9915012FC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49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D7D7-6295-8043-2C18-DB41F979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6E8D3-99EB-1064-AD7E-BF04E7123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3F990-0019-1476-334E-D6562765D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1BBB7-C55C-880D-F3EF-8909E37F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8524-B740-FE40-9C95-2E78C2A4373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C0EF5-7469-F2A1-5137-81A92D4E5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FC826-2C53-957B-4932-942BF6590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220C5-E402-E54A-8408-9915012FC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0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5B05-BE32-980C-84BA-78CC03DC3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E57C65-6B34-8CA0-5265-1C107B4DEC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93A27-D464-54A9-56CB-766B344A3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A3968-ADBE-93D3-5FBD-12C7CD61D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8524-B740-FE40-9C95-2E78C2A4373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8BC69-D605-21C7-C24F-4E826F79B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0A5F7-D139-9904-161E-7D05860D1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220C5-E402-E54A-8408-9915012FC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80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F016-237C-51CB-2E0A-26290603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E1412-B0C3-BF8D-A437-026226FAB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ADA6D-7030-FB38-E3D0-3AE95F18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8524-B740-FE40-9C95-2E78C2A4373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11B38-1174-6C37-153E-92AC3FD3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2F78C-79F2-1D9E-0E8E-6A868C7C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220C5-E402-E54A-8408-9915012FC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1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9DF9F9-F194-4124-1802-4520308F2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5066B-5091-7A32-5750-7DB860233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B414F-5824-0CDE-924A-E55101D7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8524-B740-FE40-9C95-2E78C2A4373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0275C-E850-EF6C-BBFA-436949C6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3130E-58BF-8621-12C2-B085CD2EF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220C5-E402-E54A-8408-9915012FC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8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E833D-A81F-5CAF-56E8-1D82B1EC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9A464-2FF3-AD96-2DFA-041DD1EFC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D237D-BFA5-E8AE-2E53-38C44EFDF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D8524-B740-FE40-9C95-2E78C2A4373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7D7E8-AA12-DB84-2D54-FAFE302C9C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B1585-FED3-929D-22F1-3E9DA5FB9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220C5-E402-E54A-8408-9915012FC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C49A-AE1E-2DDF-FEC5-0B17A07FA7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C2B7D-60D2-56F3-7279-ADE5D9EB9A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CMPT 125, Spring 2026</a:t>
            </a:r>
          </a:p>
          <a:p>
            <a:r>
              <a:rPr lang="en-US" dirty="0"/>
              <a:t>SFU Surrey</a:t>
            </a:r>
          </a:p>
        </p:txBody>
      </p:sp>
    </p:spTree>
    <p:extLst>
      <p:ext uri="{BB962C8B-B14F-4D97-AF65-F5344CB8AC3E}">
        <p14:creationId xmlns:p14="http://schemas.microsoft.com/office/powerpoint/2010/main" val="388027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C2D7-F47D-2C97-E52C-1001370C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A659D-6A10-B68E-6A45-05BF8A39C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Exception</a:t>
            </a:r>
            <a:r>
              <a:rPr lang="en-US" dirty="0"/>
              <a:t> in C++ are objects</a:t>
            </a:r>
          </a:p>
          <a:p>
            <a:r>
              <a:rPr lang="en-US" dirty="0"/>
              <a:t>They represent “exceptional situations”, e.g. bad errors</a:t>
            </a:r>
          </a:p>
          <a:p>
            <a:pPr lvl="1"/>
            <a:r>
              <a:rPr lang="en-US" dirty="0"/>
              <a:t>Generally, errors so bad that the program might need to end.</a:t>
            </a:r>
          </a:p>
        </p:txBody>
      </p:sp>
    </p:spTree>
    <p:extLst>
      <p:ext uri="{BB962C8B-B14F-4D97-AF65-F5344CB8AC3E}">
        <p14:creationId xmlns:p14="http://schemas.microsoft.com/office/powerpoint/2010/main" val="2472228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B8492-0FC3-C35E-C801-797617F17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6F4A1-A91D-4239-6F06-BF2726DA9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84FF9-02FE-27B7-60B6-2E7D4254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Exception</a:t>
            </a:r>
            <a:r>
              <a:rPr lang="en-US" dirty="0"/>
              <a:t> in C++ are objects</a:t>
            </a:r>
          </a:p>
          <a:p>
            <a:r>
              <a:rPr lang="en-US" dirty="0"/>
              <a:t>They represent “exceptional situations”, e.g. bad errors</a:t>
            </a:r>
          </a:p>
          <a:p>
            <a:pPr lvl="1"/>
            <a:r>
              <a:rPr lang="en-US" dirty="0"/>
              <a:t>Generally, errors so bad that the program might need to end.</a:t>
            </a:r>
          </a:p>
          <a:p>
            <a:r>
              <a:rPr lang="en-US" dirty="0"/>
              <a:t>To make an exception use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throw</a:t>
            </a:r>
            <a:b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throw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("Disk not found");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8B000-DDAC-1F47-F430-529290A3E926}"/>
              </a:ext>
            </a:extLst>
          </p:cNvPr>
          <p:cNvSpPr txBox="1"/>
          <p:nvPr/>
        </p:nvSpPr>
        <p:spPr>
          <a:xfrm>
            <a:off x="9280636" y="365125"/>
            <a:ext cx="2575034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You can create your own exception classes and objects, which can help in large programs. But in this course we’ll stock exceptions from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644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697D0-85ED-4A77-6905-1B54AF89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B153-A824-789D-6890-AB48D679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786CA-C74F-FACC-5D2E-AE135E400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throw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("Disk not found");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code after is skipped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An exception jumps out of the function it was thrown in, skipping any code that comes afterwards</a:t>
            </a:r>
          </a:p>
          <a:p>
            <a:pPr lvl="1"/>
            <a:r>
              <a:rPr lang="en-US" dirty="0"/>
              <a:t>Except for destructors: those are called properly!</a:t>
            </a:r>
          </a:p>
          <a:p>
            <a:r>
              <a:rPr lang="en-US" dirty="0"/>
              <a:t>A thrown exception </a:t>
            </a:r>
            <a:r>
              <a:rPr lang="en-US" b="1" dirty="0"/>
              <a:t>propagates</a:t>
            </a:r>
            <a:r>
              <a:rPr lang="en-US" dirty="0"/>
              <a:t> up the call stack</a:t>
            </a:r>
          </a:p>
          <a:p>
            <a:pPr lvl="1"/>
            <a:r>
              <a:rPr lang="en-US" dirty="0"/>
              <a:t>The exception is given to the function that called it, and then to the function that call that one, and so on out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922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49281-D76A-6ABA-7AA2-E40EDF17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A538-11D7-62EB-5C09-24AAD78D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0F0E4-DD60-C89D-4C4C-FB747B13F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try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throw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("Disk not found");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"this is never printed";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(const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 e)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"Caught a runtime exception: "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e.what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FF525-0B85-E8E5-683A-35709C169471}"/>
              </a:ext>
            </a:extLst>
          </p:cNvPr>
          <p:cNvSpPr txBox="1"/>
          <p:nvPr/>
        </p:nvSpPr>
        <p:spPr>
          <a:xfrm>
            <a:off x="9031014" y="488074"/>
            <a:ext cx="2322786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 thrown exception can be caught using a try/catch block.</a:t>
            </a:r>
          </a:p>
        </p:txBody>
      </p:sp>
    </p:spTree>
    <p:extLst>
      <p:ext uri="{BB962C8B-B14F-4D97-AF65-F5344CB8AC3E}">
        <p14:creationId xmlns:p14="http://schemas.microsoft.com/office/powerpoint/2010/main" val="449184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F827C-D931-18B2-9A2E-215B5858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69D7-8F80-8C2C-59BF-3DFF76F2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9B0A6-3399-29B9-DCF1-F04DC2644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try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throw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("Disk not found");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"this is never printed";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(const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 e)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"Caught a runtime exception: "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e.what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913F8E-E56B-293A-6DC4-386B7EBC1BAB}"/>
              </a:ext>
            </a:extLst>
          </p:cNvPr>
          <p:cNvSpPr txBox="1"/>
          <p:nvPr/>
        </p:nvSpPr>
        <p:spPr>
          <a:xfrm>
            <a:off x="9031014" y="488074"/>
            <a:ext cx="2322786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 thrown exception can be caught using a try/catch block.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E1891E-A364-980F-5E29-6126F6F69B80}"/>
              </a:ext>
            </a:extLst>
          </p:cNvPr>
          <p:cNvSpPr txBox="1"/>
          <p:nvPr/>
        </p:nvSpPr>
        <p:spPr>
          <a:xfrm>
            <a:off x="9412015" y="3473669"/>
            <a:ext cx="2183523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catch block syntax  is like a function parameter.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B90661-E9FE-A288-4D41-FF982D74F01A}"/>
              </a:ext>
            </a:extLst>
          </p:cNvPr>
          <p:cNvSpPr/>
          <p:nvPr/>
        </p:nvSpPr>
        <p:spPr>
          <a:xfrm>
            <a:off x="1210110" y="3697263"/>
            <a:ext cx="7056559" cy="47614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93F52F-08E4-7EC1-7087-E3AF7F2B509E}"/>
              </a:ext>
            </a:extLst>
          </p:cNvPr>
          <p:cNvCxnSpPr>
            <a:stCxn id="6" idx="1"/>
          </p:cNvCxnSpPr>
          <p:nvPr/>
        </p:nvCxnSpPr>
        <p:spPr>
          <a:xfrm flipH="1">
            <a:off x="8241957" y="3935334"/>
            <a:ext cx="1170058" cy="31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971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6E578-A345-C077-9AF9-00CB1BE12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7C7A-C0F6-313E-DB93-FFD6E7EE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125DA-57E6-FA31-58A8-C89360E2F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try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throw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("Disk not found");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"this is never printed";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(const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 e)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"Caught a runtime exception: "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e.what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86CD9-5B87-D2CB-A156-C70A814B65E4}"/>
              </a:ext>
            </a:extLst>
          </p:cNvPr>
          <p:cNvSpPr txBox="1"/>
          <p:nvPr/>
        </p:nvSpPr>
        <p:spPr>
          <a:xfrm>
            <a:off x="9031014" y="488074"/>
            <a:ext cx="2322786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 thrown exception can be caught using a try/catch block.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790FD-89BB-D771-4BE7-3BCD2B76610C}"/>
              </a:ext>
            </a:extLst>
          </p:cNvPr>
          <p:cNvSpPr txBox="1"/>
          <p:nvPr/>
        </p:nvSpPr>
        <p:spPr>
          <a:xfrm>
            <a:off x="9412015" y="3473669"/>
            <a:ext cx="2183523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catch block syntax  is like a function parameter.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4E15DE-BFCC-EFB8-53AA-3184074BE168}"/>
              </a:ext>
            </a:extLst>
          </p:cNvPr>
          <p:cNvSpPr/>
          <p:nvPr/>
        </p:nvSpPr>
        <p:spPr>
          <a:xfrm>
            <a:off x="1490979" y="4595599"/>
            <a:ext cx="7432304" cy="97557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ECF195-64D0-93A5-7695-B14C12559ACB}"/>
              </a:ext>
            </a:extLst>
          </p:cNvPr>
          <p:cNvSpPr txBox="1"/>
          <p:nvPr/>
        </p:nvSpPr>
        <p:spPr>
          <a:xfrm>
            <a:off x="8765628" y="5422680"/>
            <a:ext cx="3071648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When you catch an exception you typically print an error message, or sometimes recover form the error.</a:t>
            </a:r>
          </a:p>
        </p:txBody>
      </p:sp>
    </p:spTree>
    <p:extLst>
      <p:ext uri="{BB962C8B-B14F-4D97-AF65-F5344CB8AC3E}">
        <p14:creationId xmlns:p14="http://schemas.microsoft.com/office/powerpoint/2010/main" val="2078142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F9659-961F-CD9A-0CD8-269D4483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D5273-8C6A-33F4-F93D-265168B2F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CC7E2-F45B-2327-7052-7ECE20EA0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35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try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some_function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(const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 e)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"Caught a runtime exception... ";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(const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bad_alloc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 e)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"Caught a runtime exception... 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(...)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"Caught some exception... ";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3F33A-337F-9984-7D56-25725B4DB2A4}"/>
              </a:ext>
            </a:extLst>
          </p:cNvPr>
          <p:cNvSpPr txBox="1"/>
          <p:nvPr/>
        </p:nvSpPr>
        <p:spPr>
          <a:xfrm>
            <a:off x="3710152" y="1169591"/>
            <a:ext cx="3037489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some_function</a:t>
            </a:r>
            <a:r>
              <a:rPr lang="en-US" dirty="0">
                <a:cs typeface="Consolas" panose="020B0609020204030204" pitchFamily="49" charset="0"/>
              </a:rPr>
              <a:t> could throw some exception: we don’t know which one (if any!)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634273-4B02-0437-E5DE-518DA56A0BA3}"/>
              </a:ext>
            </a:extLst>
          </p:cNvPr>
          <p:cNvSpPr/>
          <p:nvPr/>
        </p:nvSpPr>
        <p:spPr>
          <a:xfrm>
            <a:off x="1343835" y="2209751"/>
            <a:ext cx="3154593" cy="6501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73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1CBEE-9027-0C77-15B2-89B102786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3BBDD-5170-828D-BAB8-C20D83080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D1010-1226-AC99-B216-8BCC4148C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35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try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some_function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(const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 e)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"Caught a runtime exception... ";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(const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bad_alloc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 e)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"Caught a runtime exception... 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(...)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"Caught some exception... ";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44861-31ED-2123-DA17-B8B96567C02F}"/>
              </a:ext>
            </a:extLst>
          </p:cNvPr>
          <p:cNvSpPr txBox="1"/>
          <p:nvPr/>
        </p:nvSpPr>
        <p:spPr>
          <a:xfrm>
            <a:off x="3710152" y="1169591"/>
            <a:ext cx="3037489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some_function</a:t>
            </a:r>
            <a:r>
              <a:rPr lang="en-US" dirty="0">
                <a:cs typeface="Consolas" panose="020B0609020204030204" pitchFamily="49" charset="0"/>
              </a:rPr>
              <a:t> could throw some exception: we don’t know which one (if any!)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14AC0-B958-7D21-581E-ED94F4ACF2FF}"/>
              </a:ext>
            </a:extLst>
          </p:cNvPr>
          <p:cNvSpPr/>
          <p:nvPr/>
        </p:nvSpPr>
        <p:spPr>
          <a:xfrm>
            <a:off x="838200" y="3103917"/>
            <a:ext cx="8158655" cy="154165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00732E-43F3-C93A-99DE-F7CC5B91B7DF}"/>
              </a:ext>
            </a:extLst>
          </p:cNvPr>
          <p:cNvSpPr txBox="1"/>
          <p:nvPr/>
        </p:nvSpPr>
        <p:spPr>
          <a:xfrm>
            <a:off x="8324193" y="1859755"/>
            <a:ext cx="2356945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 try/catch block can handle as many exceptions as you like, doing different things for each one. </a:t>
            </a:r>
          </a:p>
        </p:txBody>
      </p:sp>
    </p:spTree>
    <p:extLst>
      <p:ext uri="{BB962C8B-B14F-4D97-AF65-F5344CB8AC3E}">
        <p14:creationId xmlns:p14="http://schemas.microsoft.com/office/powerpoint/2010/main" val="1125923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CDFEA-2B68-8235-26B2-0AB1E3687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4AF4C-7165-D365-A926-70F9BBA9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F0773-DFAF-E756-6286-CBA0DC355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35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try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some_function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(const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 e)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"Caught a runtime exception... ";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(const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bad_alloc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 e)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"Caught a runtime exception... 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(...)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"Caught some exception... ";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8CB881-523E-6587-4368-54EAFB39961B}"/>
              </a:ext>
            </a:extLst>
          </p:cNvPr>
          <p:cNvSpPr txBox="1"/>
          <p:nvPr/>
        </p:nvSpPr>
        <p:spPr>
          <a:xfrm>
            <a:off x="3710152" y="1169591"/>
            <a:ext cx="3037489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some_function</a:t>
            </a:r>
            <a:r>
              <a:rPr lang="en-US" dirty="0">
                <a:cs typeface="Consolas" panose="020B0609020204030204" pitchFamily="49" charset="0"/>
              </a:rPr>
              <a:t> could throw some exception: we don’t know which one (if any!)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85D7E7-FE9D-D211-5EB2-3F7CE9DF2FF7}"/>
              </a:ext>
            </a:extLst>
          </p:cNvPr>
          <p:cNvSpPr/>
          <p:nvPr/>
        </p:nvSpPr>
        <p:spPr>
          <a:xfrm>
            <a:off x="838201" y="4587940"/>
            <a:ext cx="7013028" cy="110046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484F3-1E8F-3422-9B96-FDB56C3843E6}"/>
              </a:ext>
            </a:extLst>
          </p:cNvPr>
          <p:cNvSpPr txBox="1"/>
          <p:nvPr/>
        </p:nvSpPr>
        <p:spPr>
          <a:xfrm>
            <a:off x="8324193" y="1859755"/>
            <a:ext cx="2356945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 try/catch block can handle as many exceptions as you like, doing different things for each one.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DDEE8-7A47-1359-8DA5-39D91292EF2A}"/>
              </a:ext>
            </a:extLst>
          </p:cNvPr>
          <p:cNvSpPr txBox="1"/>
          <p:nvPr/>
        </p:nvSpPr>
        <p:spPr>
          <a:xfrm>
            <a:off x="7961586" y="4765243"/>
            <a:ext cx="2719552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notation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catch(...)</a:t>
            </a:r>
            <a:r>
              <a:rPr lang="en-US" dirty="0">
                <a:cs typeface="Consolas" panose="020B0609020204030204" pitchFamily="49" charset="0"/>
              </a:rPr>
              <a:t>  will catch any exception.</a:t>
            </a:r>
          </a:p>
        </p:txBody>
      </p:sp>
    </p:spTree>
    <p:extLst>
      <p:ext uri="{BB962C8B-B14F-4D97-AF65-F5344CB8AC3E}">
        <p14:creationId xmlns:p14="http://schemas.microsoft.com/office/powerpoint/2010/main" val="3782959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60011-92A2-227B-E1B9-8C1643E3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C902-30C2-3895-EAB4-534CB25A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B1461-0B4C-2827-2089-074B19DCC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35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new int[5];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might_throw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delete[]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73F9D-7EBF-A771-B826-FAC9BC8D1973}"/>
              </a:ext>
            </a:extLst>
          </p:cNvPr>
          <p:cNvSpPr txBox="1"/>
          <p:nvPr/>
        </p:nvSpPr>
        <p:spPr>
          <a:xfrm>
            <a:off x="4498429" y="888022"/>
            <a:ext cx="2511971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code has potential memory leak.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2C428-61C5-CCB9-7356-00FF0C912B25}"/>
              </a:ext>
            </a:extLst>
          </p:cNvPr>
          <p:cNvSpPr txBox="1"/>
          <p:nvPr/>
        </p:nvSpPr>
        <p:spPr>
          <a:xfrm>
            <a:off x="3904594" y="2772602"/>
            <a:ext cx="3105806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If this throws an exception, then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delete[]</a:t>
            </a:r>
            <a:r>
              <a:rPr lang="en-US" dirty="0">
                <a:cs typeface="Consolas" panose="020B0609020204030204" pitchFamily="49" charset="0"/>
              </a:rPr>
              <a:t> doesn’t run, causing a memory leak.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9A263D-6884-A327-3035-88C2E9E75A65}"/>
              </a:ext>
            </a:extLst>
          </p:cNvPr>
          <p:cNvSpPr/>
          <p:nvPr/>
        </p:nvSpPr>
        <p:spPr>
          <a:xfrm>
            <a:off x="838200" y="2859916"/>
            <a:ext cx="2892972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52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5E7A3-94EC-7E3E-6A24-73C7CF8FE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6924-1C84-78AA-E9C1-89469F4B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13F4B-E873-141B-7A15-7FF1D5FDD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35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new int[5];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try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might_throw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(...)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//...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delete[]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3E978-BEA3-FC87-EFA4-CDE10531482B}"/>
              </a:ext>
            </a:extLst>
          </p:cNvPr>
          <p:cNvSpPr txBox="1"/>
          <p:nvPr/>
        </p:nvSpPr>
        <p:spPr>
          <a:xfrm>
            <a:off x="4498429" y="872154"/>
            <a:ext cx="278524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fixes it, but wrapping every function call in try/catch is impractical.</a:t>
            </a:r>
          </a:p>
        </p:txBody>
      </p:sp>
    </p:spTree>
    <p:extLst>
      <p:ext uri="{BB962C8B-B14F-4D97-AF65-F5344CB8AC3E}">
        <p14:creationId xmlns:p14="http://schemas.microsoft.com/office/powerpoint/2010/main" val="2725362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6BFBA-A84B-38EA-5550-D7517626E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0DEE-FDDB-7931-3465-9DC45269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02F76-A53F-3ABD-CCA1-C9BE6C3CD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35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new int[5];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try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might_throw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catch (...)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//...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delete[]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F7408-14B9-B2DF-4DB0-D3C3159CACA2}"/>
              </a:ext>
            </a:extLst>
          </p:cNvPr>
          <p:cNvSpPr txBox="1"/>
          <p:nvPr/>
        </p:nvSpPr>
        <p:spPr>
          <a:xfrm>
            <a:off x="4498429" y="872154"/>
            <a:ext cx="278524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fixes it, but wrapping every function call in try/catch is impractical.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A9C6B-583B-C8C4-2AFB-69629DB57A74}"/>
              </a:ext>
            </a:extLst>
          </p:cNvPr>
          <p:cNvSpPr txBox="1"/>
          <p:nvPr/>
        </p:nvSpPr>
        <p:spPr>
          <a:xfrm>
            <a:off x="5538952" y="2967335"/>
            <a:ext cx="459302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C++ recommends a different solution</a:t>
            </a:r>
            <a:r>
              <a:rPr lang="en-US" dirty="0">
                <a:cs typeface="Consolas" panose="020B0609020204030204" pitchFamily="49" charset="0"/>
              </a:rPr>
              <a:t>: use class constructors/destructors to manage memory, and then it promises to call the destructor even if an exception occurs.</a:t>
            </a:r>
          </a:p>
        </p:txBody>
      </p:sp>
    </p:spTree>
    <p:extLst>
      <p:ext uri="{BB962C8B-B14F-4D97-AF65-F5344CB8AC3E}">
        <p14:creationId xmlns:p14="http://schemas.microsoft.com/office/powerpoint/2010/main" val="3146815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21B4-151E-15FF-81C4-52F6646EC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55EB4-4D3D-5EC0-5954-20F17F733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586D4-6222-0382-8F5F-BD1C67C6F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353"/>
            <a:ext cx="374431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Mem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int* p;</a:t>
            </a:r>
          </a:p>
          <a:p>
            <a:pPr marL="0" indent="0">
              <a:buNone/>
            </a:pP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Mem() {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p = new int[5];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~Mem()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delete[] p;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79FF3-A28C-FED1-A853-C512D70A5BD9}"/>
              </a:ext>
            </a:extLst>
          </p:cNvPr>
          <p:cNvSpPr txBox="1"/>
          <p:nvPr/>
        </p:nvSpPr>
        <p:spPr>
          <a:xfrm>
            <a:off x="3983421" y="567354"/>
            <a:ext cx="2980997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Destructors are called automatically when the they go out of scope. This is true even when an exception occurs. So this code has </a:t>
            </a:r>
            <a:r>
              <a:rPr lang="en-US" b="1" dirty="0">
                <a:cs typeface="Consolas" panose="020B0609020204030204" pitchFamily="49" charset="0"/>
              </a:rPr>
              <a:t>no memory leak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1AEA65-760E-12AB-77BA-BB658646F1BE}"/>
              </a:ext>
            </a:extLst>
          </p:cNvPr>
          <p:cNvSpPr txBox="1">
            <a:spLocks/>
          </p:cNvSpPr>
          <p:nvPr/>
        </p:nvSpPr>
        <p:spPr>
          <a:xfrm>
            <a:off x="7283669" y="1560123"/>
            <a:ext cx="46376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f()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Mem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might_throw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6879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2DB86-B12A-AD45-7F2F-6CC922CB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132A3-D362-EDE3-0341-6E1F28A07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0C2C-0A4A-2D67-CCB1-9AE454DF2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353"/>
            <a:ext cx="374431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Mem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int* p;</a:t>
            </a:r>
          </a:p>
          <a:p>
            <a:pPr marL="0" indent="0">
              <a:buNone/>
            </a:pP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Mem() {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p = new int[5];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~Mem()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delete[] p;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29FDC-BF73-1BED-1420-18C7F90938BA}"/>
              </a:ext>
            </a:extLst>
          </p:cNvPr>
          <p:cNvSpPr txBox="1"/>
          <p:nvPr/>
        </p:nvSpPr>
        <p:spPr>
          <a:xfrm>
            <a:off x="3983421" y="567354"/>
            <a:ext cx="2980997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Destructors are called automatically when the they go out of scope. This is true even when an exception occurs. So this code has </a:t>
            </a:r>
            <a:r>
              <a:rPr lang="en-US" b="1" dirty="0">
                <a:cs typeface="Consolas" panose="020B0609020204030204" pitchFamily="49" charset="0"/>
              </a:rPr>
              <a:t>no memory leak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9E5653-CF5F-320F-56FF-88DF92FD284D}"/>
              </a:ext>
            </a:extLst>
          </p:cNvPr>
          <p:cNvSpPr txBox="1">
            <a:spLocks/>
          </p:cNvSpPr>
          <p:nvPr/>
        </p:nvSpPr>
        <p:spPr>
          <a:xfrm>
            <a:off x="7283669" y="1560123"/>
            <a:ext cx="46376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f()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Mem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might_throw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48E9E-8E6E-529A-EAEA-0D07E42C7E6D}"/>
              </a:ext>
            </a:extLst>
          </p:cNvPr>
          <p:cNvSpPr txBox="1"/>
          <p:nvPr/>
        </p:nvSpPr>
        <p:spPr>
          <a:xfrm>
            <a:off x="4265229" y="4553194"/>
            <a:ext cx="2417379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programming pattern is called </a:t>
            </a:r>
            <a:r>
              <a:rPr lang="en-US" b="1" dirty="0">
                <a:cs typeface="Consolas" panose="020B0609020204030204" pitchFamily="49" charset="0"/>
              </a:rPr>
              <a:t>RAII</a:t>
            </a:r>
            <a:r>
              <a:rPr lang="en-US" dirty="0">
                <a:cs typeface="Consolas" panose="020B0609020204030204" pitchFamily="49" charset="0"/>
              </a:rPr>
              <a:t>: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b="1" dirty="0">
                <a:cs typeface="Consolas" panose="020B0609020204030204" pitchFamily="49" charset="0"/>
              </a:rPr>
              <a:t>Resource Acquisition Is Initialization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6330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C949-08F2-82CE-79A3-68DEB009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C4C09-85D7-6F52-CB93-339DBA77B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exception_demo.cpp</a:t>
            </a:r>
            <a:r>
              <a:rPr lang="en-US" dirty="0"/>
              <a:t> in the notes for examples …</a:t>
            </a:r>
          </a:p>
        </p:txBody>
      </p:sp>
    </p:spTree>
    <p:extLst>
      <p:ext uri="{BB962C8B-B14F-4D97-AF65-F5344CB8AC3E}">
        <p14:creationId xmlns:p14="http://schemas.microsoft.com/office/powerpoint/2010/main" val="1787469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A48D-1F32-1EB2-F5EA-FAF07846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8498F-39FA-FB81-9A18-DBFB7CE03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Exceptions</a:t>
            </a:r>
            <a:r>
              <a:rPr lang="en-US" dirty="0"/>
              <a:t> are objects that represent serious errors</a:t>
            </a:r>
          </a:p>
          <a:p>
            <a:r>
              <a:rPr lang="en-US" dirty="0"/>
              <a:t>They are created with </a:t>
            </a:r>
            <a:r>
              <a:rPr lang="en-US" b="1" dirty="0"/>
              <a:t>throw</a:t>
            </a:r>
          </a:p>
          <a:p>
            <a:r>
              <a:rPr lang="en-US" dirty="0"/>
              <a:t>You can handle them with a </a:t>
            </a:r>
            <a:r>
              <a:rPr lang="en-US" b="1" dirty="0"/>
              <a:t>try/catch block</a:t>
            </a:r>
          </a:p>
          <a:p>
            <a:r>
              <a:rPr lang="en-US" dirty="0"/>
              <a:t>An </a:t>
            </a:r>
            <a:r>
              <a:rPr lang="en-US" b="1" dirty="0"/>
              <a:t>uncaught exception </a:t>
            </a:r>
            <a:r>
              <a:rPr lang="en-US" dirty="0"/>
              <a:t>propagates through all the functions on the call stack, and if none catch it it will crash the program</a:t>
            </a:r>
          </a:p>
          <a:p>
            <a:r>
              <a:rPr lang="en-US" dirty="0"/>
              <a:t>Object </a:t>
            </a:r>
            <a:r>
              <a:rPr lang="en-US" b="1" dirty="0"/>
              <a:t>destructors</a:t>
            </a:r>
            <a:r>
              <a:rPr lang="en-US" dirty="0"/>
              <a:t> are called correctly with exceptions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RAII</a:t>
            </a:r>
            <a:r>
              <a:rPr lang="en-US" dirty="0"/>
              <a:t> to avoid memory leaks and related errors</a:t>
            </a:r>
          </a:p>
          <a:p>
            <a:pPr lvl="1"/>
            <a:r>
              <a:rPr lang="en-US" dirty="0"/>
              <a:t>Another approach is to use C++’s </a:t>
            </a:r>
            <a:r>
              <a:rPr lang="en-US" b="1" dirty="0"/>
              <a:t>smart pointers </a:t>
            </a:r>
            <a:r>
              <a:rPr lang="en-US" dirty="0"/>
              <a:t>(we won’t cover those)</a:t>
            </a:r>
          </a:p>
        </p:txBody>
      </p:sp>
    </p:spTree>
    <p:extLst>
      <p:ext uri="{BB962C8B-B14F-4D97-AF65-F5344CB8AC3E}">
        <p14:creationId xmlns:p14="http://schemas.microsoft.com/office/powerpoint/2010/main" val="902908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1204</Words>
  <Application>Microsoft Macintosh PowerPoint</Application>
  <PresentationFormat>Widescreen</PresentationFormat>
  <Paragraphs>154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Office Theme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2026-02-12T18:13:11Z</dcterms:created>
  <dcterms:modified xsi:type="dcterms:W3CDTF">2026-02-12T19:30:14Z</dcterms:modified>
</cp:coreProperties>
</file>