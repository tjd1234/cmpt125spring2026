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BD037A-9A09-894F-8D8F-3636741C8D05}" v="11" dt="2026-03-16T04:11:24.8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27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modSld sldOrd">
      <pc:chgData name="Toby Donaldson" userId="2e6e5431-bb17-4c41-9985-d39c50d83c73" providerId="ADAL" clId="{F31BC264-820E-54C4-A6D1-F92AF9CC222E}" dt="2026-03-16T04:23:36.040" v="325" actId="1076"/>
      <pc:docMkLst>
        <pc:docMk/>
      </pc:docMkLst>
      <pc:sldChg chg="modSp mod">
        <pc:chgData name="Toby Donaldson" userId="2e6e5431-bb17-4c41-9985-d39c50d83c73" providerId="ADAL" clId="{F31BC264-820E-54C4-A6D1-F92AF9CC222E}" dt="2026-03-16T03:49:59.160" v="11" actId="113"/>
        <pc:sldMkLst>
          <pc:docMk/>
          <pc:sldMk cId="0" sldId="257"/>
        </pc:sldMkLst>
        <pc:spChg chg="mod">
          <ac:chgData name="Toby Donaldson" userId="2e6e5431-bb17-4c41-9985-d39c50d83c73" providerId="ADAL" clId="{F31BC264-820E-54C4-A6D1-F92AF9CC222E}" dt="2026-03-16T03:49:51.321" v="10" actId="20577"/>
          <ac:spMkLst>
            <pc:docMk/>
            <pc:sldMk cId="0" sldId="257"/>
            <ac:spMk id="13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49:59.160" v="11" actId="113"/>
          <ac:spMkLst>
            <pc:docMk/>
            <pc:sldMk cId="0" sldId="257"/>
            <ac:spMk id="15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3:50:18.033" v="28" actId="20577"/>
        <pc:sldMkLst>
          <pc:docMk/>
          <pc:sldMk cId="0" sldId="258"/>
        </pc:sldMkLst>
        <pc:spChg chg="mod">
          <ac:chgData name="Toby Donaldson" userId="2e6e5431-bb17-4c41-9985-d39c50d83c73" providerId="ADAL" clId="{F31BC264-820E-54C4-A6D1-F92AF9CC222E}" dt="2026-03-16T03:50:18.033" v="28" actId="20577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3:52:29.503" v="36" actId="14100"/>
        <pc:sldMkLst>
          <pc:docMk/>
          <pc:sldMk cId="0" sldId="259"/>
        </pc:sldMkLst>
        <pc:spChg chg="mod">
          <ac:chgData name="Toby Donaldson" userId="2e6e5431-bb17-4c41-9985-d39c50d83c73" providerId="ADAL" clId="{F31BC264-820E-54C4-A6D1-F92AF9CC222E}" dt="2026-03-16T03:51:59.063" v="31" actId="113"/>
          <ac:spMkLst>
            <pc:docMk/>
            <pc:sldMk cId="0" sldId="259"/>
            <ac:spMk id="6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2:29.503" v="36" actId="1410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2:26.656" v="35" actId="14100"/>
          <ac:spMkLst>
            <pc:docMk/>
            <pc:sldMk cId="0" sldId="259"/>
            <ac:spMk id="11" creationId="{00000000-0000-0000-0000-000000000000}"/>
          </ac:spMkLst>
        </pc:spChg>
      </pc:sldChg>
      <pc:sldChg chg="delSp modSp mod">
        <pc:chgData name="Toby Donaldson" userId="2e6e5431-bb17-4c41-9985-d39c50d83c73" providerId="ADAL" clId="{F31BC264-820E-54C4-A6D1-F92AF9CC222E}" dt="2026-03-16T03:54:24.986" v="47" actId="1076"/>
        <pc:sldMkLst>
          <pc:docMk/>
          <pc:sldMk cId="0" sldId="261"/>
        </pc:sldMkLst>
        <pc:spChg chg="del mod">
          <ac:chgData name="Toby Donaldson" userId="2e6e5431-bb17-4c41-9985-d39c50d83c73" providerId="ADAL" clId="{F31BC264-820E-54C4-A6D1-F92AF9CC222E}" dt="2026-03-16T03:53:49.195" v="41" actId="21"/>
          <ac:spMkLst>
            <pc:docMk/>
            <pc:sldMk cId="0" sldId="261"/>
            <ac:spMk id="10" creationId="{00000000-0000-0000-0000-000000000000}"/>
          </ac:spMkLst>
        </pc:spChg>
        <pc:spChg chg="del mod">
          <ac:chgData name="Toby Donaldson" userId="2e6e5431-bb17-4c41-9985-d39c50d83c73" providerId="ADAL" clId="{F31BC264-820E-54C4-A6D1-F92AF9CC222E}" dt="2026-03-16T03:53:53.860" v="42" actId="21"/>
          <ac:spMkLst>
            <pc:docMk/>
            <pc:sldMk cId="0" sldId="261"/>
            <ac:spMk id="11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3:59.002" v="43" actId="14100"/>
          <ac:spMkLst>
            <pc:docMk/>
            <pc:sldMk cId="0" sldId="261"/>
            <ac:spMk id="12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4:08.718" v="46" actId="1410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4:24.986" v="47" actId="1076"/>
          <ac:spMkLst>
            <pc:docMk/>
            <pc:sldMk cId="0" sldId="261"/>
            <ac:spMk id="1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4:24.986" v="47" actId="1076"/>
          <ac:spMkLst>
            <pc:docMk/>
            <pc:sldMk cId="0" sldId="261"/>
            <ac:spMk id="15" creationId="{00000000-0000-0000-0000-000000000000}"/>
          </ac:spMkLst>
        </pc:spChg>
      </pc:sldChg>
      <pc:sldChg chg="delSp modSp mod">
        <pc:chgData name="Toby Donaldson" userId="2e6e5431-bb17-4c41-9985-d39c50d83c73" providerId="ADAL" clId="{F31BC264-820E-54C4-A6D1-F92AF9CC222E}" dt="2026-03-16T03:57:45.468" v="66" actId="1076"/>
        <pc:sldMkLst>
          <pc:docMk/>
          <pc:sldMk cId="0" sldId="262"/>
        </pc:sldMkLst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5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03:56:08.133" v="52" actId="21"/>
          <ac:spMkLst>
            <pc:docMk/>
            <pc:sldMk cId="0" sldId="262"/>
            <ac:spMk id="6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8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03:56:08.133" v="52" actId="21"/>
          <ac:spMkLst>
            <pc:docMk/>
            <pc:sldMk cId="0" sldId="262"/>
            <ac:spMk id="9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11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03:56:08.133" v="52" actId="21"/>
          <ac:spMkLst>
            <pc:docMk/>
            <pc:sldMk cId="0" sldId="262"/>
            <ac:spMk id="12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14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03:56:08.133" v="52" actId="21"/>
          <ac:spMkLst>
            <pc:docMk/>
            <pc:sldMk cId="0" sldId="262"/>
            <ac:spMk id="15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45.468" v="66" actId="1076"/>
          <ac:spMkLst>
            <pc:docMk/>
            <pc:sldMk cId="0" sldId="262"/>
            <ac:spMk id="17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03:56:08.133" v="52" actId="21"/>
          <ac:spMkLst>
            <pc:docMk/>
            <pc:sldMk cId="0" sldId="262"/>
            <ac:spMk id="18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7:06.648" v="61" actId="1076"/>
          <ac:spMkLst>
            <pc:docMk/>
            <pc:sldMk cId="0" sldId="262"/>
            <ac:spMk id="20" creationId="{00000000-0000-0000-0000-000000000000}"/>
          </ac:spMkLst>
        </pc:spChg>
      </pc:sldChg>
      <pc:sldChg chg="delSp modSp mod">
        <pc:chgData name="Toby Donaldson" userId="2e6e5431-bb17-4c41-9985-d39c50d83c73" providerId="ADAL" clId="{F31BC264-820E-54C4-A6D1-F92AF9CC222E}" dt="2026-03-16T04:01:55.612" v="95" actId="21"/>
        <pc:sldMkLst>
          <pc:docMk/>
          <pc:sldMk cId="0" sldId="263"/>
        </pc:sldMkLst>
        <pc:spChg chg="mod">
          <ac:chgData name="Toby Donaldson" userId="2e6e5431-bb17-4c41-9985-d39c50d83c73" providerId="ADAL" clId="{F31BC264-820E-54C4-A6D1-F92AF9CC222E}" dt="2026-03-16T03:59:17.936" v="9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8:34.529" v="81" actId="20577"/>
          <ac:spMkLst>
            <pc:docMk/>
            <pc:sldMk cId="0" sldId="263"/>
            <ac:spMk id="1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3:58:37.466" v="83" actId="20577"/>
          <ac:spMkLst>
            <pc:docMk/>
            <pc:sldMk cId="0" sldId="263"/>
            <ac:spMk id="17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16T04:01:55.612" v="95" actId="21"/>
          <ac:spMkLst>
            <pc:docMk/>
            <pc:sldMk cId="0" sldId="263"/>
            <ac:spMk id="19" creationId="{00000000-0000-0000-0000-000000000000}"/>
          </ac:spMkLst>
        </pc:spChg>
      </pc:sldChg>
      <pc:sldChg chg="modSp mod ord">
        <pc:chgData name="Toby Donaldson" userId="2e6e5431-bb17-4c41-9985-d39c50d83c73" providerId="ADAL" clId="{F31BC264-820E-54C4-A6D1-F92AF9CC222E}" dt="2026-03-16T04:01:42.056" v="94" actId="20578"/>
        <pc:sldMkLst>
          <pc:docMk/>
          <pc:sldMk cId="0" sldId="264"/>
        </pc:sldMkLst>
        <pc:spChg chg="mod">
          <ac:chgData name="Toby Donaldson" userId="2e6e5431-bb17-4c41-9985-d39c50d83c73" providerId="ADAL" clId="{F31BC264-820E-54C4-A6D1-F92AF9CC222E}" dt="2026-03-16T04:01:04.699" v="92" actId="14100"/>
          <ac:spMkLst>
            <pc:docMk/>
            <pc:sldMk cId="0" sldId="264"/>
            <ac:spMk id="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4:01:08.099" v="93" actId="14100"/>
          <ac:spMkLst>
            <pc:docMk/>
            <pc:sldMk cId="0" sldId="264"/>
            <ac:spMk id="5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4:09:46.828" v="201"/>
        <pc:sldMkLst>
          <pc:docMk/>
          <pc:sldMk cId="0" sldId="266"/>
        </pc:sldMkLst>
        <pc:spChg chg="mod">
          <ac:chgData name="Toby Donaldson" userId="2e6e5431-bb17-4c41-9985-d39c50d83c73" providerId="ADAL" clId="{F31BC264-820E-54C4-A6D1-F92AF9CC222E}" dt="2026-03-16T04:08:23.755" v="177" actId="20577"/>
          <ac:spMkLst>
            <pc:docMk/>
            <pc:sldMk cId="0" sldId="266"/>
            <ac:spMk id="7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4:09:46.828" v="201"/>
          <ac:spMkLst>
            <pc:docMk/>
            <pc:sldMk cId="0" sldId="266"/>
            <ac:spMk id="9" creationId="{00000000-0000-0000-0000-000000000000}"/>
          </ac:spMkLst>
        </pc:spChg>
        <pc:graphicFrameChg chg="modGraphic">
          <ac:chgData name="Toby Donaldson" userId="2e6e5431-bb17-4c41-9985-d39c50d83c73" providerId="ADAL" clId="{F31BC264-820E-54C4-A6D1-F92AF9CC222E}" dt="2026-03-16T04:07:54.060" v="147" actId="20577"/>
          <ac:graphicFrameMkLst>
            <pc:docMk/>
            <pc:sldMk cId="0" sldId="266"/>
            <ac:graphicFrameMk id="12" creationId="{00000000-0000-0000-0000-000000000000}"/>
          </ac:graphicFrameMkLst>
        </pc:graphicFrameChg>
      </pc:sldChg>
      <pc:sldChg chg="modSp mod">
        <pc:chgData name="Toby Donaldson" userId="2e6e5431-bb17-4c41-9985-d39c50d83c73" providerId="ADAL" clId="{F31BC264-820E-54C4-A6D1-F92AF9CC222E}" dt="2026-03-16T04:12:02.068" v="296" actId="20577"/>
        <pc:sldMkLst>
          <pc:docMk/>
          <pc:sldMk cId="0" sldId="267"/>
        </pc:sldMkLst>
        <pc:spChg chg="mod">
          <ac:chgData name="Toby Donaldson" userId="2e6e5431-bb17-4c41-9985-d39c50d83c73" providerId="ADAL" clId="{F31BC264-820E-54C4-A6D1-F92AF9CC222E}" dt="2026-03-16T04:12:02.068" v="296" actId="20577"/>
          <ac:spMkLst>
            <pc:docMk/>
            <pc:sldMk cId="0" sldId="267"/>
            <ac:spMk id="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4:10:31.687" v="221" actId="113"/>
          <ac:spMkLst>
            <pc:docMk/>
            <pc:sldMk cId="0" sldId="267"/>
            <ac:spMk id="7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04:10:17.556" v="202" actId="113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4:13:27.699" v="307" actId="207"/>
        <pc:sldMkLst>
          <pc:docMk/>
          <pc:sldMk cId="0" sldId="270"/>
        </pc:sldMkLst>
        <pc:spChg chg="mod">
          <ac:chgData name="Toby Donaldson" userId="2e6e5431-bb17-4c41-9985-d39c50d83c73" providerId="ADAL" clId="{F31BC264-820E-54C4-A6D1-F92AF9CC222E}" dt="2026-03-16T04:13:03.497" v="305" actId="20577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Toby Donaldson" userId="2e6e5431-bb17-4c41-9985-d39c50d83c73" providerId="ADAL" clId="{F31BC264-820E-54C4-A6D1-F92AF9CC222E}" dt="2026-03-16T04:13:27.699" v="307" actId="20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 mod">
        <pc:chgData name="Toby Donaldson" userId="2e6e5431-bb17-4c41-9985-d39c50d83c73" providerId="ADAL" clId="{F31BC264-820E-54C4-A6D1-F92AF9CC222E}" dt="2026-03-16T04:15:32.621" v="309" actId="20577"/>
        <pc:sldMkLst>
          <pc:docMk/>
          <pc:sldMk cId="0" sldId="271"/>
        </pc:sldMkLst>
        <pc:spChg chg="mod">
          <ac:chgData name="Toby Donaldson" userId="2e6e5431-bb17-4c41-9985-d39c50d83c73" providerId="ADAL" clId="{F31BC264-820E-54C4-A6D1-F92AF9CC222E}" dt="2026-03-16T04:15:32.621" v="309" actId="20577"/>
          <ac:spMkLst>
            <pc:docMk/>
            <pc:sldMk cId="0" sldId="271"/>
            <ac:spMk id="5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4:16:17.965" v="315" actId="20577"/>
        <pc:sldMkLst>
          <pc:docMk/>
          <pc:sldMk cId="0" sldId="272"/>
        </pc:sldMkLst>
        <pc:spChg chg="mod">
          <ac:chgData name="Toby Donaldson" userId="2e6e5431-bb17-4c41-9985-d39c50d83c73" providerId="ADAL" clId="{F31BC264-820E-54C4-A6D1-F92AF9CC222E}" dt="2026-03-16T04:16:17.965" v="315" actId="20577"/>
          <ac:spMkLst>
            <pc:docMk/>
            <pc:sldMk cId="0" sldId="272"/>
            <ac:spMk id="5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4:18:28.277" v="316" actId="113"/>
        <pc:sldMkLst>
          <pc:docMk/>
          <pc:sldMk cId="0" sldId="274"/>
        </pc:sldMkLst>
        <pc:spChg chg="mod">
          <ac:chgData name="Toby Donaldson" userId="2e6e5431-bb17-4c41-9985-d39c50d83c73" providerId="ADAL" clId="{F31BC264-820E-54C4-A6D1-F92AF9CC222E}" dt="2026-03-16T04:18:28.277" v="316" actId="113"/>
          <ac:spMkLst>
            <pc:docMk/>
            <pc:sldMk cId="0" sldId="274"/>
            <ac:spMk id="10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4:21:13.379" v="319" actId="20577"/>
        <pc:sldMkLst>
          <pc:docMk/>
          <pc:sldMk cId="0" sldId="279"/>
        </pc:sldMkLst>
        <pc:spChg chg="mod">
          <ac:chgData name="Toby Donaldson" userId="2e6e5431-bb17-4c41-9985-d39c50d83c73" providerId="ADAL" clId="{F31BC264-820E-54C4-A6D1-F92AF9CC222E}" dt="2026-03-16T04:21:13.379" v="319" actId="20577"/>
          <ac:spMkLst>
            <pc:docMk/>
            <pc:sldMk cId="0" sldId="279"/>
            <ac:spMk id="5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4:22:38.022" v="323" actId="20577"/>
        <pc:sldMkLst>
          <pc:docMk/>
          <pc:sldMk cId="0" sldId="280"/>
        </pc:sldMkLst>
        <pc:spChg chg="mod">
          <ac:chgData name="Toby Donaldson" userId="2e6e5431-bb17-4c41-9985-d39c50d83c73" providerId="ADAL" clId="{F31BC264-820E-54C4-A6D1-F92AF9CC222E}" dt="2026-03-16T04:22:38.022" v="323" actId="20577"/>
          <ac:spMkLst>
            <pc:docMk/>
            <pc:sldMk cId="0" sldId="280"/>
            <ac:spMk id="6" creationId="{00000000-0000-0000-0000-000000000000}"/>
          </ac:spMkLst>
        </pc:spChg>
      </pc:sldChg>
      <pc:sldChg chg="modSp mod">
        <pc:chgData name="Toby Donaldson" userId="2e6e5431-bb17-4c41-9985-d39c50d83c73" providerId="ADAL" clId="{F31BC264-820E-54C4-A6D1-F92AF9CC222E}" dt="2026-03-16T04:23:36.040" v="325" actId="1076"/>
        <pc:sldMkLst>
          <pc:docMk/>
          <pc:sldMk cId="0" sldId="283"/>
        </pc:sldMkLst>
        <pc:spChg chg="mod">
          <ac:chgData name="Toby Donaldson" userId="2e6e5431-bb17-4c41-9985-d39c50d83c73" providerId="ADAL" clId="{F31BC264-820E-54C4-A6D1-F92AF9CC222E}" dt="2026-03-16T04:23:36.040" v="325" actId="1076"/>
          <ac:spMkLst>
            <pc:docMk/>
            <pc:sldMk cId="0" sldId="283"/>
            <ac:spMk id="1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2740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95728"/>
            <a:ext cx="9144000" cy="50292"/>
          </a:xfrm>
          <a:prstGeom prst="rect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Sorting Algorithms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8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  ·  Mergesort  ·  Binary 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88720" y="2971800"/>
            <a:ext cx="6766560" cy="685800"/>
          </a:xfrm>
          <a:prstGeom prst="rect">
            <a:avLst/>
          </a:prstGeom>
          <a:solidFill>
            <a:srgbClr val="162E4A"/>
          </a:solidFill>
          <a:ln w="12700">
            <a:solidFill>
              <a:srgbClr val="16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88720" y="29718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0C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4  8  2  1</a:t>
            </a:r>
            <a:r>
              <a:rPr lang="en-US" sz="2400" b="1" dirty="0">
                <a:solidFill>
                  <a:srgbClr val="F4A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</a:t>
            </a:r>
            <a:r>
              <a:rPr lang="en-US" sz="2400" b="1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1  2  4  8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Algorithms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Sorting?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re-arranges the elements of a list into ascending (smallest to largest) order.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3931920" cy="1691640"/>
          </a:xfrm>
          <a:prstGeom prst="rect">
            <a:avLst/>
          </a:prstGeom>
          <a:solidFill>
            <a:srgbClr val="E8F5E9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3931920" cy="40233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 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71907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2,  3,  8,  8,  10,  101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= first element  |  max = last element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234440"/>
            <a:ext cx="3931920" cy="1691640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234440"/>
            <a:ext cx="3931920" cy="402336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123444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Unsorted  ✗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71907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2,  4,  1,  6,  2,  7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83480" y="2331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scan all elements to find min or max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03580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different sorting algorithms have been invented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sort vector&lt;int&gt;  (the same ideas work for any comparable type)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rearrange so that  v[0] ≤ v[1] ≤ v[2] ≤ ... ≤ v[n-1]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Sorting Specification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specification uses pre-conditions and post-conditions: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160020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" y="1280160"/>
            <a:ext cx="81564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Pre-condition: 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none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Post-condition: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The elements of v are RE-ARRANGED into ascending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order, i.e. v[0] &lt;= v[1] &lt;= ... &lt;= v[n-1].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sort(vector&lt;int&gt;&amp; v)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907792"/>
            <a:ext cx="8412480" cy="713232"/>
          </a:xfrm>
          <a:prstGeom prst="rect">
            <a:avLst/>
          </a:prstGeom>
          <a:solidFill>
            <a:srgbClr val="E0F4F7"/>
          </a:solidFill>
          <a:ln w="254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90779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word: </a:t>
            </a:r>
            <a:r>
              <a:rPr lang="en-US" sz="1700" b="1" dirty="0">
                <a:solidFill>
                  <a:srgbClr val="027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"re-arranged"</a:t>
            </a:r>
            <a:r>
              <a:rPr lang="en-US" sz="17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the elements must be </a:t>
            </a:r>
            <a:r>
              <a:rPr lang="en-US" sz="1700" b="1" i="1" dirty="0">
                <a:solidFill>
                  <a:srgbClr val="027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permuted</a:t>
            </a:r>
            <a:r>
              <a:rPr lang="en-US" sz="17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(shuffled into order, not replaced!)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elements must appear — just in a different (sorted) order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adding, removing, or changing values is allowed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Specification — Can You Spot the Bug?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post-condition: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14800" cy="160020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1188720"/>
            <a:ext cx="38587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Post-condition: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</a:t>
            </a:r>
            <a:r>
              <a:rPr lang="en-US" sz="105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elements of v are in</a:t>
            </a:r>
            <a:endParaRPr lang="en-US" sz="1050" b="1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</a:t>
            </a:r>
            <a:r>
              <a:rPr lang="en-US" sz="105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ascending sorted order,</a:t>
            </a:r>
            <a:endParaRPr lang="en-US" sz="1050" b="1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</a:t>
            </a:r>
            <a:r>
              <a:rPr lang="en-US" sz="105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v[0] &lt;= v[1] &lt;= ... &lt;= v[n-1].</a:t>
            </a:r>
            <a:endParaRPr lang="en-US" sz="1050" b="1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sort_bad(vector&lt;int&gt;&amp; v)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54880" y="7498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these satisfy sort_bad!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114800" cy="196596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82896" y="1188720"/>
            <a:ext cx="38587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sort_bad_a(vector&lt;int&gt;&amp; v)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for(int i = 0; i &lt; v.size(); i++)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v[i] = 3;  // set all to 3!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sort_bad_b(vector&lt;int&gt;&amp; v)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v.clear(); // remove everything!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3246120"/>
            <a:ext cx="8595360" cy="800100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8321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 </a:t>
            </a: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the word "re-arranged"!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the spec must say elements are RE-ARRANGED (permuted), not just in order.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Problem: Specifications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F4A01E"/>
          </a:solidFill>
          <a:ln w="127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Yourself!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8412480" cy="3639312"/>
          </a:xfrm>
          <a:prstGeom prst="rect">
            <a:avLst/>
          </a:prstGeom>
          <a:solidFill>
            <a:srgbClr val="FFF8E1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7955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CORRECT post-condition for a sort function. What single word is most critical?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DELIBERATELY BAD post-condition that sort_bad_b (which just calls v.clear()) would satisfy.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 your own words why "elements are in ascending order" is weaker than "elements are re-arranged into ascending order."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Give a vector of 5 elements that is in sorted order AND is still in sorted order when reversed.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What property must every element in such a vector have?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Testing: The is_sorted Helper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6303784" cy="173736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48055" y="841248"/>
            <a:ext cx="558103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is_sorted(const vector&lt;int&gt;&amp; v)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for(int i = 1; i &lt; v.size(); i++) {  // i starts at 1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(!(v[i-1] &lt;= v[i])) return false;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return true;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260604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to Always Include: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017520"/>
          <a:ext cx="8503920" cy="193548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Vector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Include It?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case — size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{5}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case — size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{-1, 0, 5, 9, 10}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sorted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{8, 7, 3, 1, 0}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 sorted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{4, 4, 4, 4, 4}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same values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{3, 1, 4, 1, 5}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Insertion Sort: The Idea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8412480" cy="45720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sorting cards in your hand — hold a sorted group and insert each new card in the right place!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316736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Divide the list into a SORTED part and an UNSORTED part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146304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901952"/>
            <a:ext cx="1508760" cy="347472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57400" y="1901952"/>
            <a:ext cx="2852928" cy="347472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57400" y="1901952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unsorted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1794" y="251460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|  6  1  2  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19514" y="25420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only first element starts in sorted part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310128"/>
            <a:ext cx="8412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Take the first element of the unsorted part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Find its correct position in the sorted part (using linear search)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Insert it there (shift larger elements right to make room)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Repeat until the unsorted part is empty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Insertion Sort on  [5, 6, 1, 2, 4]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054691" y="722376"/>
            <a:ext cx="2736509" cy="621792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191851" y="8412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|  </a:t>
            </a:r>
            <a:r>
              <a:rPr lang="en-US" sz="1800" b="1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180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1  2  4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54691" y="1380744"/>
            <a:ext cx="273650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191851" y="14996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6  |  </a:t>
            </a:r>
            <a:r>
              <a:rPr lang="en-US" sz="1800" b="1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b="1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2  4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54691" y="2039112"/>
            <a:ext cx="2736509" cy="621792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191851" y="2157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5  6  |  </a:t>
            </a:r>
            <a:r>
              <a:rPr lang="en-US" sz="1800" b="1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8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054691" y="2697480"/>
            <a:ext cx="273650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91851" y="28163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2  5  6  |  </a:t>
            </a:r>
            <a:r>
              <a:rPr lang="en-US" sz="1800" b="1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>
              <a:solidFill>
                <a:srgbClr val="FF0000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54691" y="3355848"/>
            <a:ext cx="2736509" cy="621792"/>
          </a:xfrm>
          <a:prstGeom prst="rect">
            <a:avLst/>
          </a:prstGeom>
          <a:solidFill>
            <a:srgbClr val="F8F9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91851" y="34747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2  4  5  6  |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74320" y="4059936"/>
            <a:ext cx="8595360" cy="685800"/>
          </a:xfrm>
          <a:prstGeom prst="rect">
            <a:avLst/>
          </a:prstGeom>
          <a:solidFill>
            <a:srgbClr val="E8F5E9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4059936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Result:  1  2  4  5  6   (ascending sorted order)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Sort: C++ Implementation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166360" cy="365760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48056" y="841248"/>
            <a:ext cx="491032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insertion_sort(vector&lt;int&gt;&amp; v)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for(int i = 1; i &lt; v.size(); ++i)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int key = v[i];       // element being inserted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int j   = i - 1;      // start just left of key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// shift larger elements right to make room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while (j &gt;= 0 &amp;&amp; v[j] &gt; key)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v[j + 1] = v[j];   // shift right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--j;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}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// j &lt; 0  OR  v[j] &lt;= key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v[j + 1] = key;       // place key here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0" y="7772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0" y="1234440"/>
            <a:ext cx="3154680" cy="68580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20" y="127101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6362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being inserted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0" y="2011680"/>
            <a:ext cx="3154680" cy="68580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0482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0" y="234086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backwards through sorted part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2788920"/>
            <a:ext cx="3154680" cy="68580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0" y="282549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v[j+1] = v[j]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6072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elements right to make room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3566160"/>
            <a:ext cx="3154680" cy="68580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60720" y="360273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v[j+1] = key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60720" y="389534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key in correct position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Problem: Insertion Sort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F4A01E"/>
          </a:solidFill>
          <a:ln w="127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Yourself!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8412480" cy="3639312"/>
          </a:xfrm>
          <a:prstGeom prst="rect">
            <a:avLst/>
          </a:prstGeom>
          <a:solidFill>
            <a:srgbClr val="FFF8E1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7955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insertion sort by hand on: [3, 1, 4, 1, 5]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each step with the  sorted | unsorted  divider, and note what's happening.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comparisons does the worst case require for this 5-element list?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is_sorted_descending — a variation that returns true if v is in REVERSE sorted order.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What is the best-case input for insertion sort? How many comparisons does it make on that input? (Hint: think about what kind of list never needs shifting.)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Is Insertion Sort? (Worst Case)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comparisons when sorting a reverse-sorted list (worst case):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831"/>
              </p:ext>
            </p:extLst>
          </p:nvPr>
        </p:nvGraphicFramePr>
        <p:xfrm>
          <a:off x="320040" y="1188720"/>
          <a:ext cx="8503920" cy="2057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| d c b 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comparisons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is already placed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| c b 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comparison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where to insert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 | b 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comparisons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where to insert 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 d e | 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comparisons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where to insert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e |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comparisons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where to insert 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20040" y="3337560"/>
            <a:ext cx="8503920" cy="502920"/>
          </a:xfrm>
          <a:prstGeom prst="rect">
            <a:avLst/>
          </a:prstGeom>
          <a:solidFill>
            <a:srgbClr val="E0F4F7"/>
          </a:solidFill>
          <a:ln w="1905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33756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 0 + 1 + 2 + 3 + 4  =  10 comparisons  (for n = 5 elements)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2004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 elements:  </a:t>
            </a: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+ 1 + 2 + … + (n-1)  =  n(n-1)/2  ≈  n²/2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20040" y="44348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</a:t>
            </a:r>
            <a:r>
              <a:rPr lang="en-US" sz="1400" b="1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</a:t>
            </a:r>
            <a:r>
              <a:rPr lang="en-US" sz="14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say insertion sort is </a:t>
            </a:r>
            <a:r>
              <a:rPr lang="en-US" sz="1400" b="1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r>
              <a:rPr lang="en-US" sz="14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“order </a:t>
            </a:r>
            <a:r>
              <a:rPr lang="en-US" sz="1400" b="1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n²</a:t>
            </a:r>
            <a:r>
              <a:rPr lang="en-US" sz="14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 is O(n²)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n(n-1)/2 comparisons in worst case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~n² data moves in worst case</a:t>
            </a:r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cs typeface="Calibri" pitchFamily="34" charset="-120"/>
              </a:rPr>
              <a:t>If you double the vector size, you do </a:t>
            </a:r>
            <a:r>
              <a:rPr lang="en-US" sz="1500" dirty="0">
                <a:solidFill>
                  <a:srgbClr val="FF0000"/>
                </a:solidFill>
                <a:latin typeface="Calibri" pitchFamily="34" charset="0"/>
                <a:cs typeface="Calibri" pitchFamily="34" charset="-120"/>
              </a:rPr>
              <a:t>4x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cs typeface="Calibri" pitchFamily="34" charset="-120"/>
              </a:rPr>
              <a:t> the work, i.e. (2n)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cs typeface="Calibri" pitchFamily="34" charset="-120"/>
              </a:rPr>
              <a:t> = </a:t>
            </a:r>
            <a:r>
              <a:rPr lang="en-US" sz="1500" dirty="0">
                <a:solidFill>
                  <a:srgbClr val="FF0000"/>
                </a:solidFill>
                <a:latin typeface="Calibri" pitchFamily="34" charset="0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n²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749808"/>
            <a:ext cx="3931920" cy="1783080"/>
          </a:xfrm>
          <a:prstGeom prst="rect">
            <a:avLst/>
          </a:prstGeom>
          <a:solidFill>
            <a:srgbClr val="FFF3E0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0" y="82296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4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n²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4846320" y="19659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</a:t>
            </a: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worst-case growth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743200"/>
          <a:ext cx="4114800" cy="21031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~n²/2 comparisons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499,500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~50,000,000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663440" y="283464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insertion sort is fine for a few thousand items, but too slow for large 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Problem: Insertion Sort Performance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F4A01E"/>
          </a:solidFill>
          <a:ln w="127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Yourself!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8412480" cy="3639312"/>
          </a:xfrm>
          <a:prstGeom prst="rect">
            <a:avLst/>
          </a:prstGeom>
          <a:solidFill>
            <a:srgbClr val="FFF8E1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7955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insertion sort takes 1 second to sort 5,000 items, about how long would it take to sort 10,000 items?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Think about n² — doubling n does NOT double the time!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(10,000)² ÷ (5,000)² = ?   So the answer is approximately 4 seconds.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How long would it take to sort 50,000 items? 100,000 items?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Write a timing experiment — measure insertion_sort for n = 1000, 2000, 4000, 8000 and check if the ratio of times follows the n²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Mergesort: Divide and Conquer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faster than insertion sort! Strategy: Divide → Sort → Merge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1051560" cy="1005840"/>
          </a:xfrm>
          <a:prstGeom prst="rect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417320" y="1261872"/>
            <a:ext cx="5897880" cy="1005840"/>
          </a:xfrm>
          <a:prstGeom prst="rect">
            <a:avLst/>
          </a:prstGeom>
          <a:solidFill>
            <a:srgbClr val="E0F7FA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00200" y="135331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8 2 1  |  3 7 6 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185623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two equal halves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377440"/>
            <a:ext cx="1051560" cy="10058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2377440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417320" y="2377440"/>
            <a:ext cx="5897880" cy="100584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600200" y="246888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4 8  |  3 5 6 7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00200" y="297180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Recursively sort each half (same algorithm!)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3493008"/>
            <a:ext cx="105156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3493008"/>
            <a:ext cx="1051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17320" y="3493008"/>
            <a:ext cx="5897880" cy="1005840"/>
          </a:xfrm>
          <a:prstGeom prst="rect">
            <a:avLst/>
          </a:prstGeom>
          <a:solidFill>
            <a:srgbClr val="E8EEF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600200" y="358444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1 2 3 4 5 6 7 8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4087368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into one sorted list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406640" y="1261872"/>
            <a:ext cx="1417320" cy="3346704"/>
          </a:xfrm>
          <a:prstGeom prst="rect">
            <a:avLst/>
          </a:prstGeom>
          <a:solidFill>
            <a:srgbClr val="FFF8E1"/>
          </a:solidFill>
          <a:ln w="1905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98080" y="1417320"/>
            <a:ext cx="1234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half is sorted with the 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4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algorithm!</a:t>
            </a:r>
            <a:endParaRPr lang="en-US" sz="13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(recursion)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Two Sorted Lists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Rule: 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take the SMALLER of the two front elements and append it to the result.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869073"/>
              </p:ext>
            </p:extLst>
          </p:nvPr>
        </p:nvGraphicFramePr>
        <p:xfrm>
          <a:off x="320040" y="1188720"/>
          <a:ext cx="8503920" cy="37033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(a →)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(b →)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B8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←  2 4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3  5 6 7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&lt; 3 → take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←  4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3  5 6 7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&lt; 3 → take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1, 2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←  5 6 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&gt; 3 → take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1, 2, 3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← 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5  6 7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&lt; 5 → take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1, 2, 3, 4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←  6 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&gt; 5 → take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1, 2, 3, 4, 5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←  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&gt; 6 → take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1, 2, 3, 4, 5, 6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&gt; 7 → take 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1, 2, 3, 4, 5, 6, 7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7D3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 ← (done)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27B8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(done)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remaining 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1, 2, 3, 4, 5, 6, 7, 8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Two-Pointer Merge Technique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8503920" cy="265176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48056" y="841248"/>
            <a:ext cx="82478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left:   1  2  4  8          right:  3  5  6  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^                           ^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 (left pointer)           b  (right pointer)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Compare left[a]  vs  right[b]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Copy the SMALLER to result;  advance that pointer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If one list is exhausted, copy the rest of the other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Repeat until both pointers reach the end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starts empty: { 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3511296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merge completes: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" y="3886200"/>
            <a:ext cx="8503920" cy="685800"/>
          </a:xfrm>
          <a:prstGeom prst="rect">
            <a:avLst/>
          </a:prstGeom>
          <a:solidFill>
            <a:srgbClr val="E8F5E9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result:  { 1, 2, 3, 4, 5, 6, 7, 8 }  — fully merged and sorted!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Efficiency: merging two lists of n/2 elements requires at most n comparisons.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Mergesort: Algorithm (Pseudocode)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8503920" cy="274320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48056" y="841248"/>
            <a:ext cx="82478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mergesort(v):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if v has 0 or 1 elements → return // base case: already sorted!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half  = n / 2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left  = v[0 ... half-1]           // first half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right = v[half ... n-1]           // second half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mergesort(left)                   // recursive call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mergesort(right)                  // recursive call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v = merge(left, right)            // combine sorted halves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3657600"/>
            <a:ext cx="2011680" cy="128016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3657600"/>
            <a:ext cx="201168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041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0 or 1 is already sorted — stop recursing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3657600"/>
            <a:ext cx="2011680" cy="1280160"/>
          </a:xfrm>
          <a:prstGeom prst="rect">
            <a:avLst/>
          </a:prstGeom>
          <a:solidFill>
            <a:srgbClr val="E0F7FA"/>
          </a:solidFill>
          <a:ln w="1905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68880" y="3657600"/>
            <a:ext cx="2011680" cy="347472"/>
          </a:xfrm>
          <a:prstGeom prst="rect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0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4041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v into two equal halves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17720" y="3657600"/>
            <a:ext cx="2011680" cy="1280160"/>
          </a:xfrm>
          <a:prstGeom prst="rect">
            <a:avLst/>
          </a:prstGeom>
          <a:solidFill>
            <a:srgbClr val="E8EEF4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17720" y="3657600"/>
            <a:ext cx="201168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17720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Conquer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4041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Recursively sort each half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3657600"/>
            <a:ext cx="2011680" cy="1280160"/>
          </a:xfrm>
          <a:prstGeom prst="rect">
            <a:avLst/>
          </a:prstGeom>
          <a:solidFill>
            <a:srgbClr val="FFF8E1"/>
          </a:solidFill>
          <a:ln w="1905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0" y="3657600"/>
            <a:ext cx="2011680" cy="347472"/>
          </a:xfrm>
          <a:prstGeom prst="rect">
            <a:avLst/>
          </a:prstGeom>
          <a:solidFill>
            <a:srgbClr val="F4A01E"/>
          </a:solidFill>
          <a:ln w="127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66560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4041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sorted halves into one sorted list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Mergesort: C++ Implementation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8503920" cy="242316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48056" y="841248"/>
            <a:ext cx="82478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mergesort(vector&lt;int&gt;&amp; v) 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(v.size() &lt;= 1) return;        // base case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mid = v.size() / 2;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left  = slice(v, 0, mid);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right = slice(v, mid, v.size());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mergesort(left);                  // sort left half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mergesort(right);                 // sort right half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 = merge(left, right);           // combine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" y="32918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functions used: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" y="3703320"/>
            <a:ext cx="4114800" cy="1234440"/>
          </a:xfrm>
          <a:prstGeom prst="rect">
            <a:avLst/>
          </a:prstGeom>
          <a:solidFill>
            <a:srgbClr val="E0F4F7"/>
          </a:solidFill>
          <a:ln w="1905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373075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slice(v, begin, end)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09651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copy of v[begin..end-1].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extract left and right halves.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3703320"/>
            <a:ext cx="41148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373075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merge(v, w)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409651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two sorted vectors into one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vector using two pointers.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Mergesort is O(n log n)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2651760" cy="2057400"/>
          </a:xfrm>
          <a:prstGeom prst="rect">
            <a:avLst/>
          </a:prstGeom>
          <a:solidFill>
            <a:srgbClr val="E8EEF4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144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log 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2004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growth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749808"/>
          <a:ext cx="5669280" cy="21945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n·log n  (mergesort)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B8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n²  (insertion sort)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132,877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1,660,964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10,000,000,000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20040" y="3063240"/>
            <a:ext cx="8503920" cy="68580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306324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sort 100,000 items: insertion sort does 6,000× MORE work than mergesort!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20040" y="38587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world: 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Java use </a:t>
            </a: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timsort</a:t>
            </a: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 variation of mergesort) in their standard libraries.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Problem: Mergesort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F4A01E"/>
          </a:solidFill>
          <a:ln w="127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Yourself!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8412480" cy="3639312"/>
          </a:xfrm>
          <a:prstGeom prst="rect">
            <a:avLst/>
          </a:prstGeom>
          <a:solidFill>
            <a:srgbClr val="FFF8E1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7955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mergesort by hand on: [5, 3, 8, 1, 4, 2]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Show the divide step (left half = [5, 3, 8], right half = [1, 4, 2])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What does each half look like AFTER recursive sorting?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Trace the merge step — show which pointer advances at each comparison.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Draw the full recursion tree for this 6-element input. How many total recursive calls are made?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Search: The Power of Sorted Data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data is sorted, we can search it MUCH faster using binary search.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207008"/>
            <a:ext cx="8503920" cy="182880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48056" y="1298448"/>
            <a:ext cx="8247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Pre-condition:  v is in ascending SORTED order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v[0] &lt;= v[1] &lt;= ... &lt;= v[n-1]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Post-condition: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returns an index i such that v[i] == x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returns -1 if x is not found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binary_search(int x, const vector&lt;int&gt;&amp; v)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0040" y="3154680"/>
            <a:ext cx="8503920" cy="594360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CRITICAL: The pre-condition is essential — binary search ONLY works on SORTED data!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0040" y="385876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linear search: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0040" y="4251960"/>
            <a:ext cx="4114800" cy="640080"/>
          </a:xfrm>
          <a:prstGeom prst="rect">
            <a:avLst/>
          </a:prstGeom>
          <a:solidFill>
            <a:srgbClr val="FFEBEE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27024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search: checks 1 element at a time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up to n comparisons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4251960"/>
            <a:ext cx="4114800" cy="6400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427024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search: eliminates HALF at a time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at most log₂(n) comparisons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Search: The Strategy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MIDDLE element. Three possible cases: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475488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41248" y="1261872"/>
            <a:ext cx="7982712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133502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 == 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87552" y="173736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FOUND!  Return the index immediately.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313432"/>
            <a:ext cx="475488" cy="914400"/>
          </a:xfrm>
          <a:prstGeom prst="rect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2313432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41248" y="2313432"/>
            <a:ext cx="7982712" cy="914400"/>
          </a:xfrm>
          <a:prstGeom prst="rect">
            <a:avLst/>
          </a:prstGeom>
          <a:solidFill>
            <a:srgbClr val="E0F7FA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87552" y="238658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 middle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278892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in the LEFT half  →  search left half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3364992"/>
            <a:ext cx="475488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3364992"/>
            <a:ext cx="475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41248" y="3364992"/>
            <a:ext cx="7982712" cy="914400"/>
          </a:xfrm>
          <a:prstGeom prst="rect">
            <a:avLst/>
          </a:prstGeom>
          <a:solidFill>
            <a:srgbClr val="E8EEF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87552" y="343814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&gt; middle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87552" y="384048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in the RIGHT half  →  search right half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0040" y="4206240"/>
            <a:ext cx="8503920" cy="594360"/>
          </a:xfrm>
          <a:prstGeom prst="rect">
            <a:avLst/>
          </a:prstGeom>
          <a:solidFill>
            <a:srgbClr val="FFF8E1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20624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comparison eliminates HALF the remaining elements  (vs. only 1 in linear search!)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Search for 6 in  [4, 5, 8, 11, 15, 20, 21]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411480" cy="1261872"/>
          </a:xfrm>
          <a:prstGeom prst="rect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11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749808"/>
            <a:ext cx="5029200" cy="1170432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05256" y="841248"/>
            <a:ext cx="477316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4  5  8  11  15  20  21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^  ← mid = 11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0" y="859536"/>
            <a:ext cx="2880360" cy="1005840"/>
          </a:xfrm>
          <a:prstGeom prst="rect">
            <a:avLst/>
          </a:prstGeom>
          <a:solidFill>
            <a:srgbClr val="E0F7FA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080760" y="9144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27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&lt; 11  →  search LEFT half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139696"/>
            <a:ext cx="411480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2139696"/>
            <a:ext cx="411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77240" y="2139696"/>
            <a:ext cx="5029200" cy="1170432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05256" y="2231136"/>
            <a:ext cx="477316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4  5  8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^  ← mid = 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0" y="2249424"/>
            <a:ext cx="2880360" cy="1005840"/>
          </a:xfrm>
          <a:prstGeom prst="rect">
            <a:avLst/>
          </a:prstGeom>
          <a:solidFill>
            <a:srgbClr val="E8EEF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80760" y="230428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&gt; 5   →  search RIGHT of 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529584"/>
            <a:ext cx="411480" cy="126187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3529584"/>
            <a:ext cx="411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77240" y="3529584"/>
            <a:ext cx="5029200" cy="1170432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05256" y="3621024"/>
            <a:ext cx="477316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  ← mid = 8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3639312"/>
            <a:ext cx="288036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80760" y="3694176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≠ 6, nothing left  →  return -1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4700016"/>
            <a:ext cx="8503920" cy="402336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700016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comparisons!  Linear search would need 7 comparisons to prove 6 is absent.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Search: C++ Implementation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212080" cy="411480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48056" y="841248"/>
            <a:ext cx="495604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binary_search(int x, const vector&lt;int&gt;&amp; v,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int begin, int end)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(begin &lt; end)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mid = (begin + end) / 2;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(v[mid] == x) {        // found x!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mid;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if (x &lt; v[mid])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end = mid;              // search LEFT half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                  // x &gt; v[mid]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begin = mid + 1;        // search RIGHT half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-1;                  // x not found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Convenience wrapper: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binary_search(int x, const vector&lt;int&gt;&amp; v)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binary_search(x, v, 0, v.size());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715000" y="777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Details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234440"/>
            <a:ext cx="3108960" cy="73152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06440" y="12710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 (begin+end)/2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06440" y="15636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Midpoint of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range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15000" y="2057400"/>
            <a:ext cx="3108960" cy="73152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06440" y="20939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= mid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806440" y="23865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to left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(exclude mid)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2880360"/>
            <a:ext cx="3108960" cy="73152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806440" y="29169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 = mid + 1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06440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to right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(exclude mid)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3703320"/>
            <a:ext cx="3108960" cy="731520"/>
          </a:xfrm>
          <a:prstGeom prst="rect">
            <a:avLst/>
          </a:prstGeom>
          <a:solidFill>
            <a:srgbClr val="E0F4F7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806440" y="37398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7B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-1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40325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&gt;= end: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not found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Binary Search is O(log n)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halves the search space: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114800" cy="242316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48056" y="1280160"/>
            <a:ext cx="385876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Start:         n elements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1 step:  n/2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2 steps: n/4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3 steps: n/8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...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i steps: n / 2ᴵ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 when n/2ᴵ &lt; 1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⇒  i ≈ log₂(n)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749808"/>
          <a:ext cx="4114800" cy="2971801"/>
        </p:xfrm>
        <a:graphic>
          <a:graphicData uri="http://schemas.openxmlformats.org/drawingml/2006/table">
            <a:tbl>
              <a:tblPr/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45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(vector size)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comparisons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B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45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5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5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5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5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54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20040" y="3749040"/>
            <a:ext cx="8503920" cy="685800"/>
          </a:xfrm>
          <a:prstGeom prst="rect">
            <a:avLst/>
          </a:prstGeom>
          <a:solidFill>
            <a:srgbClr val="E8F5E9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374904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30 comparisons to search ONE BILLION elements!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20040" y="452628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Fact: log₂(n) is the minimum number of bits needed to represent n in binary.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of Binary Search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8503920" cy="512064"/>
          </a:xfrm>
          <a:prstGeom prst="rect">
            <a:avLst/>
          </a:prstGeom>
          <a:solidFill>
            <a:srgbClr val="FFF8E1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is BLAZINGLY FAST — but requires SORTED data!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11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binary search: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already sorted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to search MANY times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sort once, binary search many times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709160" y="1389888"/>
            <a:ext cx="411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binary search: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unsorted (must sort first!)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search ONCE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+ one search is slower than linear search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80560" y="1417320"/>
            <a:ext cx="0" cy="2103120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3840480"/>
            <a:ext cx="8503920" cy="1005840"/>
          </a:xfrm>
          <a:prstGeom prst="rect">
            <a:avLst/>
          </a:prstGeom>
          <a:solidFill>
            <a:srgbClr val="E0F4F7"/>
          </a:solidFill>
          <a:ln w="1905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7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</a:t>
            </a:r>
            <a:r>
              <a:rPr lang="en-US" sz="13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drive a mile using almost no gas… if you start at the top of a hill. But getting the car up there first is the hard part! Binary search has the same tradeoff: O(log n) to search, but O(n log n) to sort the data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Problem: Binary Search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F4A01E"/>
          </a:solidFill>
          <a:ln w="127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Yourself!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8412480" cy="3639312"/>
          </a:xfrm>
          <a:prstGeom prst="rect">
            <a:avLst/>
          </a:prstGeom>
          <a:solidFill>
            <a:srgbClr val="FFF8E1"/>
          </a:solidFill>
          <a:ln w="2540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7955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binary search for x = 14 in:  [2, 5, 8, 11, 14, 19, 23, 30]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step, write: begin, end, mid, v[mid], and the decision made.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comparisons does it take to find 14?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trace binary search for x = 10 in the same list. How many comparisons to determine it is NOT there?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What is the maximum number of comparisons for a vector of 1,000 elements? Of 1,000,000 elements?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Quicksort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divide-and-conquer algorithm. Often faster in practice than mergesort.</a:t>
            </a:r>
            <a:endParaRPr lang="en-US" sz="15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6400800" cy="21488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Mergesort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B8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Quicksort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split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Evenly in half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pivot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at 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merge needed!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O(n log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 if bad pivots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(extra arrays)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(in-place)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0" y="1188720"/>
            <a:ext cx="1965960" cy="2148840"/>
          </a:xfrm>
          <a:prstGeom prst="rect">
            <a:avLst/>
          </a:prstGeom>
          <a:solidFill>
            <a:srgbClr val="FFF8E1"/>
          </a:solidFill>
          <a:ln w="1905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949440" y="1325880"/>
            <a:ext cx="1783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pivot choices → O(n²) worst case!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0040" y="347472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partitioning works: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20040" y="3858768"/>
            <a:ext cx="8503920" cy="1005840"/>
          </a:xfrm>
          <a:prstGeom prst="rect">
            <a:avLst/>
          </a:prstGeom>
          <a:solidFill>
            <a:srgbClr val="F0F4F8"/>
          </a:solidFill>
          <a:ln w="12700">
            <a:solidFill>
              <a:srgbClr val="C9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48056" y="3858768"/>
            <a:ext cx="8247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Choose a "pivot" element.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all elements ≤ pivot to the LEFT of pivot.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all elements  &gt; pivot to the RIGHT of pivot.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5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Once both halves are sorted, the whole array is sorted!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Sorting Algorithm Comparison</a:t>
            </a:r>
            <a:endParaRPr lang="en-US" sz="25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77240"/>
          <a:ext cx="8503920" cy="22402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Case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 Sort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&amp; insert into sorted part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Mergesort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 in half, merge results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Quicksort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Partition around pivot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27B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46E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Halve the search space each 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315468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What: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" y="3611880"/>
            <a:ext cx="2743200" cy="1325880"/>
          </a:xfrm>
          <a:prstGeom prst="rect">
            <a:avLst/>
          </a:prstGeom>
          <a:solidFill>
            <a:srgbClr val="FFF8E1"/>
          </a:solidFill>
          <a:ln w="19050">
            <a:solidFill>
              <a:srgbClr val="F4A0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11480" y="36576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 &lt; ~1000)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1480" y="41330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44988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code, fast enough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0" y="3611880"/>
            <a:ext cx="2743200" cy="1325880"/>
          </a:xfrm>
          <a:prstGeom prst="rect">
            <a:avLst/>
          </a:prstGeom>
          <a:solidFill>
            <a:srgbClr val="E0F7FA"/>
          </a:solidFill>
          <a:ln w="1905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291840" y="36576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 &gt; 1000)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291840" y="41330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7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Mergesort / Quicksort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291840" y="44988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log n is dramatically faster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80760" y="3611880"/>
            <a:ext cx="2743200" cy="13258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172200" y="36576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data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172200" y="41330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172200" y="44988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n is blazingly fast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 to Remember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88136"/>
            <a:ext cx="347472" cy="347472"/>
          </a:xfrm>
          <a:prstGeom prst="ellipse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88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4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spec must say "re-arranged" — not just "in order"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347472" cy="347472"/>
          </a:xfrm>
          <a:prstGeom prst="ellipse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709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1673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sort: simple to understand, O(n²) — slow for large 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331720"/>
            <a:ext cx="347472" cy="347472"/>
          </a:xfrm>
          <a:prstGeom prst="ellipse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29514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Mergesort: divide-and-conquer, O(n log n) — dramatically faster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953512"/>
            <a:ext cx="347472" cy="347472"/>
          </a:xfrm>
          <a:prstGeom prst="ellipse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291693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uses two pointers; always take the smaller front element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575304"/>
            <a:ext cx="347472" cy="347472"/>
          </a:xfrm>
          <a:prstGeom prst="ellipse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35387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4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search: O(log n) — only works on SORTED data!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4197096"/>
            <a:ext cx="347472" cy="347472"/>
          </a:xfrm>
          <a:prstGeom prst="ellipse">
            <a:avLst/>
          </a:prstGeom>
          <a:solidFill>
            <a:srgbClr val="027B8E"/>
          </a:solidFill>
          <a:ln w="12700">
            <a:solidFill>
              <a:srgbClr val="027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4197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once + many binary searches beats many linear searches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Questions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4206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What's wrong with a sort spec that omits "re-arranged"?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Trace insertion sort on [3, 1, 4, 1, 5]. Show each step.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How many comparisons does insertion sort do on n=100 items (worst case)?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base case for mergesort?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Describe the merge operation in your own words.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777240"/>
            <a:ext cx="0" cy="41148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00600" y="77724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Why is mergesort so much faster than insertion sort?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What is binary search's pre-condition?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Trace binary search for 9 in [1, 3, 5, 7, 9, 11, 13].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Why can't we use binary search on unsorted data?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If binary search takes 5ms for n items, how long for n² items?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3712</Words>
  <Application>Microsoft Macintosh PowerPoint</Application>
  <PresentationFormat>On-screen Show (16:9)</PresentationFormat>
  <Paragraphs>550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Sorting Algorithms</dc:title>
  <dc:subject>PptxGenJS Presentation</dc:subject>
  <dc:creator>PptxGenJS</dc:creator>
  <cp:lastModifiedBy>Toby Donaldson</cp:lastModifiedBy>
  <cp:revision>1</cp:revision>
  <dcterms:created xsi:type="dcterms:W3CDTF">2026-03-16T03:39:39Z</dcterms:created>
  <dcterms:modified xsi:type="dcterms:W3CDTF">2026-03-16T04:23:36Z</dcterms:modified>
</cp:coreProperties>
</file>